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1195"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3303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3.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647"/>
        </a:solidFill>
        <a:effectLst/>
      </p:bgPr>
    </p:bg>
    <p:spTree>
      <p:nvGrpSpPr>
        <p:cNvPr id="1" name=""/>
        <p:cNvGrpSpPr/>
        <p:nvPr/>
      </p:nvGrpSpPr>
      <p:grpSpPr>
        <a:xfrm>
          <a:off x="0" y="0"/>
          <a:ext cx="0" cy="0"/>
          <a:chOff x="0" y="0"/>
          <a:chExt cx="0" cy="0"/>
        </a:xfrm>
      </p:grpSpPr>
      <p:sp>
        <p:nvSpPr>
          <p:cNvPr id="2" name="Shape 0"/>
          <p:cNvSpPr/>
          <p:nvPr/>
        </p:nvSpPr>
        <p:spPr>
          <a:xfrm>
            <a:off x="10271455" y="4937760"/>
            <a:ext cx="2011680" cy="2011680"/>
          </a:xfrm>
          <a:prstGeom prst="ellipse">
            <a:avLst/>
          </a:prstGeom>
          <a:ln w="15240">
            <a:solidFill>
              <a:srgbClr val="1C7293">
                <a:alpha val="40000"/>
              </a:srgbClr>
            </a:solidFill>
            <a:prstDash val="solid"/>
          </a:ln>
        </p:spPr>
      </p:sp>
      <p:sp>
        <p:nvSpPr>
          <p:cNvPr id="3" name="Shape 1"/>
          <p:cNvSpPr/>
          <p:nvPr/>
        </p:nvSpPr>
        <p:spPr>
          <a:xfrm>
            <a:off x="9745675" y="4411980"/>
            <a:ext cx="3063240" cy="3063240"/>
          </a:xfrm>
          <a:prstGeom prst="ellipse">
            <a:avLst/>
          </a:prstGeom>
          <a:ln w="15240">
            <a:solidFill>
              <a:srgbClr val="1C7293">
                <a:alpha val="35000"/>
              </a:srgbClr>
            </a:solidFill>
            <a:prstDash val="solid"/>
          </a:ln>
        </p:spPr>
      </p:sp>
      <p:sp>
        <p:nvSpPr>
          <p:cNvPr id="4" name="Shape 2"/>
          <p:cNvSpPr/>
          <p:nvPr/>
        </p:nvSpPr>
        <p:spPr>
          <a:xfrm>
            <a:off x="9219895" y="3886200"/>
            <a:ext cx="4114800" cy="4114800"/>
          </a:xfrm>
          <a:prstGeom prst="ellipse">
            <a:avLst/>
          </a:prstGeom>
          <a:ln w="15240">
            <a:solidFill>
              <a:srgbClr val="1C7293">
                <a:alpha val="30000"/>
              </a:srgbClr>
            </a:solidFill>
            <a:prstDash val="solid"/>
          </a:ln>
        </p:spPr>
      </p:sp>
      <p:sp>
        <p:nvSpPr>
          <p:cNvPr id="5" name="Shape 3"/>
          <p:cNvSpPr/>
          <p:nvPr/>
        </p:nvSpPr>
        <p:spPr>
          <a:xfrm>
            <a:off x="8694115" y="3360420"/>
            <a:ext cx="5166360" cy="5166360"/>
          </a:xfrm>
          <a:prstGeom prst="ellipse">
            <a:avLst/>
          </a:prstGeom>
          <a:ln w="15240">
            <a:solidFill>
              <a:srgbClr val="1C7293">
                <a:alpha val="25000"/>
              </a:srgbClr>
            </a:solidFill>
            <a:prstDash val="solid"/>
          </a:ln>
        </p:spPr>
      </p:sp>
      <p:sp>
        <p:nvSpPr>
          <p:cNvPr id="6" name="Shape 4"/>
          <p:cNvSpPr/>
          <p:nvPr/>
        </p:nvSpPr>
        <p:spPr>
          <a:xfrm>
            <a:off x="8168335" y="2834640"/>
            <a:ext cx="6217920" cy="6217920"/>
          </a:xfrm>
          <a:prstGeom prst="ellipse">
            <a:avLst/>
          </a:prstGeom>
          <a:ln w="15240">
            <a:solidFill>
              <a:srgbClr val="1C7293">
                <a:alpha val="20000"/>
              </a:srgbClr>
            </a:solidFill>
            <a:prstDash val="solid"/>
          </a:ln>
        </p:spPr>
      </p:sp>
      <p:pic>
        <p:nvPicPr>
          <p:cNvPr id="7" name="Image 0" descr="icons/FaWaveSquare_teal.png"/>
          <p:cNvPicPr>
            <a:picLocks noChangeAspect="1"/>
          </p:cNvPicPr>
          <p:nvPr/>
        </p:nvPicPr>
        <p:blipFill>
          <a:blip r:embed="rId3"/>
          <a:stretch>
            <a:fillRect/>
          </a:stretch>
        </p:blipFill>
        <p:spPr>
          <a:xfrm>
            <a:off x="640080" y="640080"/>
            <a:ext cx="914400" cy="914400"/>
          </a:xfrm>
          <a:prstGeom prst="rect">
            <a:avLst/>
          </a:prstGeom>
        </p:spPr>
      </p:pic>
      <p:sp>
        <p:nvSpPr>
          <p:cNvPr id="8" name="Text 5"/>
          <p:cNvSpPr/>
          <p:nvPr/>
        </p:nvSpPr>
        <p:spPr>
          <a:xfrm>
            <a:off x="822960" y="2331720"/>
            <a:ext cx="10058400" cy="457200"/>
          </a:xfrm>
          <a:prstGeom prst="rect">
            <a:avLst/>
          </a:prstGeom>
          <a:noFill/>
          <a:ln/>
        </p:spPr>
        <p:txBody>
          <a:bodyPr wrap="square" lIns="0" tIns="0" rIns="0" bIns="0" rtlCol="0" anchor="ctr"/>
          <a:lstStyle/>
          <a:p>
            <a:pPr marL="0" indent="0">
              <a:buNone/>
            </a:pPr>
            <a:r>
              <a:rPr lang="en-US" sz="1400" b="1" kern="0" spc="300" dirty="0">
                <a:solidFill>
                  <a:srgbClr val="F2A341"/>
                </a:solidFill>
                <a:latin typeface="Calibri" pitchFamily="34" charset="0"/>
                <a:ea typeface="Calibri" pitchFamily="34" charset="-122"/>
                <a:cs typeface="Calibri" pitchFamily="34" charset="-120"/>
              </a:rPr>
              <a:t>MC-CDMA SYSTEM SIMULATION</a:t>
            </a:r>
            <a:endParaRPr lang="en-US" sz="1400" dirty="0"/>
          </a:p>
        </p:txBody>
      </p:sp>
      <p:sp>
        <p:nvSpPr>
          <p:cNvPr id="9" name="Text 6"/>
          <p:cNvSpPr/>
          <p:nvPr/>
        </p:nvSpPr>
        <p:spPr>
          <a:xfrm>
            <a:off x="822960" y="2743200"/>
            <a:ext cx="9875520" cy="1737360"/>
          </a:xfrm>
          <a:prstGeom prst="rect">
            <a:avLst/>
          </a:prstGeom>
          <a:noFill/>
          <a:ln/>
        </p:spPr>
        <p:txBody>
          <a:bodyPr wrap="square" lIns="0" tIns="0" rIns="0" bIns="0" rtlCol="0" anchor="ctr"/>
          <a:lstStyle/>
          <a:p>
            <a:pPr marL="0" indent="0">
              <a:lnSpc>
                <a:spcPct val="108000"/>
              </a:lnSpc>
              <a:buNone/>
            </a:pPr>
            <a:r>
              <a:rPr lang="en-US" sz="4200" b="1" dirty="0">
                <a:solidFill>
                  <a:srgbClr val="FFFFFF"/>
                </a:solidFill>
                <a:latin typeface="Cambria" pitchFamily="34" charset="0"/>
                <a:ea typeface="Cambria" pitchFamily="34" charset="-122"/>
                <a:cs typeface="Cambria" pitchFamily="34" charset="-120"/>
              </a:rPr>
              <a:t>Multi-Carrier CDMA System Simulation</a:t>
            </a:r>
            <a:endParaRPr lang="en-US" sz="4200" dirty="0"/>
          </a:p>
          <a:p>
            <a:pPr marL="0" indent="0">
              <a:lnSpc>
                <a:spcPct val="108000"/>
              </a:lnSpc>
              <a:buNone/>
            </a:pPr>
            <a:r>
              <a:rPr lang="en-US" sz="4200" b="1" dirty="0">
                <a:solidFill>
                  <a:srgbClr val="FFFFFF"/>
                </a:solidFill>
                <a:latin typeface="Cambria" pitchFamily="34" charset="0"/>
                <a:ea typeface="Cambria" pitchFamily="34" charset="-122"/>
                <a:cs typeface="Cambria" pitchFamily="34" charset="-120"/>
              </a:rPr>
              <a:t>Using OFDM</a:t>
            </a:r>
            <a:endParaRPr lang="en-US" sz="4200" dirty="0"/>
          </a:p>
        </p:txBody>
      </p:sp>
      <p:sp>
        <p:nvSpPr>
          <p:cNvPr id="10" name="Shape 7"/>
          <p:cNvSpPr/>
          <p:nvPr/>
        </p:nvSpPr>
        <p:spPr>
          <a:xfrm>
            <a:off x="841248" y="4709160"/>
            <a:ext cx="1280160" cy="0"/>
          </a:xfrm>
          <a:prstGeom prst="line">
            <a:avLst/>
          </a:prstGeom>
          <a:noFill/>
          <a:ln w="38100">
            <a:solidFill>
              <a:srgbClr val="F2A341"/>
            </a:solidFill>
            <a:prstDash val="solid"/>
          </a:ln>
        </p:spPr>
      </p:sp>
      <p:sp>
        <p:nvSpPr>
          <p:cNvPr id="11" name="Text 8"/>
          <p:cNvSpPr/>
          <p:nvPr/>
        </p:nvSpPr>
        <p:spPr>
          <a:xfrm>
            <a:off x="822960" y="4892040"/>
            <a:ext cx="7315200" cy="822960"/>
          </a:xfrm>
          <a:prstGeom prst="rect">
            <a:avLst/>
          </a:prstGeom>
          <a:noFill/>
          <a:ln/>
        </p:spPr>
        <p:txBody>
          <a:bodyPr wrap="square" lIns="0" tIns="0" rIns="0" bIns="0" rtlCol="0" anchor="ctr"/>
          <a:lstStyle/>
          <a:p>
            <a:pPr marL="0" indent="0">
              <a:lnSpc>
                <a:spcPct val="130000"/>
              </a:lnSpc>
              <a:buNone/>
            </a:pPr>
            <a:r>
              <a:rPr lang="en-US" sz="1600" b="1" dirty="0">
                <a:solidFill>
                  <a:srgbClr val="D7E4F0"/>
                </a:solidFill>
                <a:latin typeface="Calibri" pitchFamily="34" charset="0"/>
                <a:ea typeface="Calibri" pitchFamily="34" charset="-122"/>
                <a:cs typeface="Calibri" pitchFamily="34" charset="-120"/>
              </a:rPr>
              <a:t>Rajesh Chauhan</a:t>
            </a:r>
            <a:endParaRPr lang="en-US" sz="1600" dirty="0"/>
          </a:p>
          <a:p>
            <a:pPr marL="0" indent="0">
              <a:lnSpc>
                <a:spcPct val="130000"/>
              </a:lnSpc>
              <a:buNone/>
            </a:pPr>
            <a:r>
              <a:rPr lang="en-US" sz="1600" dirty="0">
                <a:solidFill>
                  <a:srgbClr val="D7E4F0"/>
                </a:solidFill>
                <a:latin typeface="Calibri" pitchFamily="34" charset="0"/>
                <a:ea typeface="Calibri" pitchFamily="34" charset="-122"/>
                <a:cs typeface="Calibri" pitchFamily="34" charset="-120"/>
              </a:rPr>
              <a:t>Indian Institute of Technology, Kharagpur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MOTIVATION</a:t>
            </a:r>
            <a:endParaRPr lang="en-US" sz="1300" dirty="0"/>
          </a:p>
        </p:txBody>
      </p:sp>
      <p:sp>
        <p:nvSpPr>
          <p:cNvPr id="3" name="Text 1"/>
          <p:cNvSpPr/>
          <p:nvPr/>
        </p:nvSpPr>
        <p:spPr>
          <a:xfrm>
            <a:off x="548640" y="749808"/>
            <a:ext cx="9601200" cy="822960"/>
          </a:xfrm>
          <a:prstGeom prst="rect">
            <a:avLst/>
          </a:prstGeom>
          <a:noFill/>
          <a:ln/>
        </p:spPr>
        <p:txBody>
          <a:bodyPr wrap="square" lIns="0" tIns="0" rIns="0" bIns="0" rtlCol="0" anchor="ctr"/>
          <a:lstStyle/>
          <a:p>
            <a:pPr marL="0" indent="0">
              <a:buNone/>
            </a:pPr>
            <a:r>
              <a:rPr lang="en-US" sz="3200" b="1" dirty="0">
                <a:solidFill>
                  <a:srgbClr val="0A2647"/>
                </a:solidFill>
                <a:latin typeface="Cambria" pitchFamily="34" charset="0"/>
                <a:ea typeface="Cambria" pitchFamily="34" charset="-122"/>
                <a:cs typeface="Cambria" pitchFamily="34" charset="-120"/>
              </a:rPr>
              <a:t>Problem Statement</a:t>
            </a:r>
            <a:endParaRPr lang="en-US" sz="3200" dirty="0"/>
          </a:p>
        </p:txBody>
      </p:sp>
      <p:sp>
        <p:nvSpPr>
          <p:cNvPr id="4" name="Text 2"/>
          <p:cNvSpPr/>
          <p:nvPr/>
        </p:nvSpPr>
        <p:spPr>
          <a:xfrm>
            <a:off x="548640" y="1508760"/>
            <a:ext cx="6035040" cy="822960"/>
          </a:xfrm>
          <a:prstGeom prst="rect">
            <a:avLst/>
          </a:prstGeom>
          <a:noFill/>
          <a:ln/>
        </p:spPr>
        <p:txBody>
          <a:bodyPr wrap="square" lIns="0" tIns="0" rIns="0" bIns="0" rtlCol="0" anchor="ctr"/>
          <a:lstStyle/>
          <a:p>
            <a:pPr marL="0" indent="0">
              <a:lnSpc>
                <a:spcPct val="125000"/>
              </a:lnSpc>
              <a:buNone/>
            </a:pPr>
            <a:r>
              <a:rPr lang="en-US" sz="1450" dirty="0">
                <a:solidFill>
                  <a:srgbClr val="5C7A93"/>
                </a:solidFill>
                <a:latin typeface="Calibri" pitchFamily="34" charset="0"/>
                <a:ea typeface="Calibri" pitchFamily="34" charset="-122"/>
                <a:cs typeface="Calibri" pitchFamily="34" charset="-120"/>
              </a:rPr>
              <a:t>Designing a wireless link that stays reliable as more users share the</a:t>
            </a:r>
            <a:endParaRPr lang="en-US" sz="1450" dirty="0"/>
          </a:p>
          <a:p>
            <a:pPr marL="0" indent="0">
              <a:lnSpc>
                <a:spcPct val="125000"/>
              </a:lnSpc>
              <a:buNone/>
            </a:pPr>
            <a:r>
              <a:rPr lang="en-US" sz="1450" dirty="0">
                <a:solidFill>
                  <a:srgbClr val="5C7A93"/>
                </a:solidFill>
                <a:latin typeface="Calibri" pitchFamily="34" charset="0"/>
                <a:ea typeface="Calibri" pitchFamily="34" charset="-122"/>
                <a:cs typeface="Calibri" pitchFamily="34" charset="-120"/>
              </a:rPr>
              <a:t>same spectrum under hostile, fading channel conditions.</a:t>
            </a:r>
            <a:endParaRPr lang="en-US" sz="1450" dirty="0"/>
          </a:p>
        </p:txBody>
      </p:sp>
      <p:sp>
        <p:nvSpPr>
          <p:cNvPr id="5" name="Shape 3"/>
          <p:cNvSpPr/>
          <p:nvPr/>
        </p:nvSpPr>
        <p:spPr>
          <a:xfrm>
            <a:off x="548640" y="2606040"/>
            <a:ext cx="5212080" cy="1417320"/>
          </a:xfrm>
          <a:prstGeom prst="roundRect">
            <a:avLst>
              <a:gd name="adj" fmla="val 5161"/>
            </a:avLst>
          </a:prstGeom>
          <a:solidFill>
            <a:srgbClr val="FFFFFF"/>
          </a:solidFill>
          <a:ln/>
          <a:effectLst>
            <a:outerShdw blurRad="101600" dist="38100" dir="2700000" algn="bl" rotWithShape="0">
              <a:srgbClr val="0A2647">
                <a:alpha val="12000"/>
              </a:srgbClr>
            </a:outerShdw>
          </a:effectLst>
        </p:spPr>
      </p:sp>
      <p:sp>
        <p:nvSpPr>
          <p:cNvPr id="6" name="Shape 4"/>
          <p:cNvSpPr/>
          <p:nvPr/>
        </p:nvSpPr>
        <p:spPr>
          <a:xfrm>
            <a:off x="822960" y="2862072"/>
            <a:ext cx="640080" cy="640080"/>
          </a:xfrm>
          <a:prstGeom prst="ellipse">
            <a:avLst/>
          </a:prstGeom>
          <a:solidFill>
            <a:srgbClr val="0A2647"/>
          </a:solidFill>
          <a:ln/>
        </p:spPr>
      </p:sp>
      <p:pic>
        <p:nvPicPr>
          <p:cNvPr id="7" name="Image 0" descr="icons/FaUsers_amber.png"/>
          <p:cNvPicPr>
            <a:picLocks noChangeAspect="1"/>
          </p:cNvPicPr>
          <p:nvPr/>
        </p:nvPicPr>
        <p:blipFill>
          <a:blip r:embed="rId3"/>
          <a:stretch>
            <a:fillRect/>
          </a:stretch>
        </p:blipFill>
        <p:spPr>
          <a:xfrm>
            <a:off x="995782" y="3034894"/>
            <a:ext cx="294437" cy="294437"/>
          </a:xfrm>
          <a:prstGeom prst="rect">
            <a:avLst/>
          </a:prstGeom>
        </p:spPr>
      </p:pic>
      <p:sp>
        <p:nvSpPr>
          <p:cNvPr id="8" name="Text 5"/>
          <p:cNvSpPr/>
          <p:nvPr/>
        </p:nvSpPr>
        <p:spPr>
          <a:xfrm>
            <a:off x="1645920" y="2807208"/>
            <a:ext cx="3931920" cy="365760"/>
          </a:xfrm>
          <a:prstGeom prst="rect">
            <a:avLst/>
          </a:prstGeom>
          <a:noFill/>
          <a:ln/>
        </p:spPr>
        <p:txBody>
          <a:bodyPr wrap="square" lIns="0" tIns="0" rIns="0" bIns="0" rtlCol="0" anchor="ctr"/>
          <a:lstStyle/>
          <a:p>
            <a:pPr marL="0" indent="0">
              <a:buNone/>
            </a:pPr>
            <a:r>
              <a:rPr lang="en-US" sz="1550" b="1" dirty="0">
                <a:solidFill>
                  <a:srgbClr val="0A2647"/>
                </a:solidFill>
                <a:latin typeface="Cambria" pitchFamily="34" charset="0"/>
                <a:ea typeface="Cambria" pitchFamily="34" charset="-122"/>
                <a:cs typeface="Cambria" pitchFamily="34" charset="-120"/>
              </a:rPr>
              <a:t>Multi-user communication</a:t>
            </a:r>
            <a:endParaRPr lang="en-US" sz="1550" dirty="0"/>
          </a:p>
        </p:txBody>
      </p:sp>
      <p:sp>
        <p:nvSpPr>
          <p:cNvPr id="9" name="Text 6"/>
          <p:cNvSpPr/>
          <p:nvPr/>
        </p:nvSpPr>
        <p:spPr>
          <a:xfrm>
            <a:off x="1645920" y="3172968"/>
            <a:ext cx="3886200" cy="731520"/>
          </a:xfrm>
          <a:prstGeom prst="rect">
            <a:avLst/>
          </a:prstGeom>
          <a:noFill/>
          <a:ln/>
        </p:spPr>
        <p:txBody>
          <a:bodyPr wrap="square" lIns="0" tIns="0" rIns="0" bIns="0" rtlCol="0" anchor="ctr"/>
          <a:lstStyle/>
          <a:p>
            <a:pPr marL="0" indent="0">
              <a:lnSpc>
                <a:spcPct val="120000"/>
              </a:lnSpc>
              <a:buNone/>
            </a:pPr>
            <a:r>
              <a:rPr lang="en-US" sz="1150" dirty="0">
                <a:solidFill>
                  <a:srgbClr val="5C7A93"/>
                </a:solidFill>
                <a:latin typeface="Calibri" pitchFamily="34" charset="0"/>
                <a:ea typeface="Calibri" pitchFamily="34" charset="-122"/>
                <a:cs typeface="Calibri" pitchFamily="34" charset="-120"/>
              </a:rPr>
              <a:t>Many users must share the same wideband channel without destructive interference.</a:t>
            </a:r>
            <a:endParaRPr lang="en-US" sz="1150" dirty="0"/>
          </a:p>
        </p:txBody>
      </p:sp>
      <p:sp>
        <p:nvSpPr>
          <p:cNvPr id="10" name="Shape 7"/>
          <p:cNvSpPr/>
          <p:nvPr/>
        </p:nvSpPr>
        <p:spPr>
          <a:xfrm>
            <a:off x="6217920" y="2606040"/>
            <a:ext cx="5212080" cy="1417320"/>
          </a:xfrm>
          <a:prstGeom prst="roundRect">
            <a:avLst>
              <a:gd name="adj" fmla="val 5161"/>
            </a:avLst>
          </a:prstGeom>
          <a:solidFill>
            <a:srgbClr val="FFFFFF"/>
          </a:solidFill>
          <a:ln/>
          <a:effectLst>
            <a:outerShdw blurRad="101600" dist="38100" dir="2700000" algn="bl" rotWithShape="0">
              <a:srgbClr val="0A2647">
                <a:alpha val="12000"/>
              </a:srgbClr>
            </a:outerShdw>
          </a:effectLst>
        </p:spPr>
      </p:sp>
      <p:sp>
        <p:nvSpPr>
          <p:cNvPr id="11" name="Shape 8"/>
          <p:cNvSpPr/>
          <p:nvPr/>
        </p:nvSpPr>
        <p:spPr>
          <a:xfrm>
            <a:off x="6492240" y="2862072"/>
            <a:ext cx="640080" cy="640080"/>
          </a:xfrm>
          <a:prstGeom prst="ellipse">
            <a:avLst/>
          </a:prstGeom>
          <a:solidFill>
            <a:srgbClr val="0A2647"/>
          </a:solidFill>
          <a:ln/>
        </p:spPr>
      </p:sp>
      <p:pic>
        <p:nvPicPr>
          <p:cNvPr id="12" name="Image 1" descr="icons/FaWater_amber.png"/>
          <p:cNvPicPr>
            <a:picLocks noChangeAspect="1"/>
          </p:cNvPicPr>
          <p:nvPr/>
        </p:nvPicPr>
        <p:blipFill>
          <a:blip r:embed="rId4"/>
          <a:stretch>
            <a:fillRect/>
          </a:stretch>
        </p:blipFill>
        <p:spPr>
          <a:xfrm>
            <a:off x="6665062" y="3034894"/>
            <a:ext cx="294437" cy="294437"/>
          </a:xfrm>
          <a:prstGeom prst="rect">
            <a:avLst/>
          </a:prstGeom>
        </p:spPr>
      </p:pic>
      <p:sp>
        <p:nvSpPr>
          <p:cNvPr id="13" name="Text 9"/>
          <p:cNvSpPr/>
          <p:nvPr/>
        </p:nvSpPr>
        <p:spPr>
          <a:xfrm>
            <a:off x="7315200" y="2807208"/>
            <a:ext cx="3931920" cy="365760"/>
          </a:xfrm>
          <a:prstGeom prst="rect">
            <a:avLst/>
          </a:prstGeom>
          <a:noFill/>
          <a:ln/>
        </p:spPr>
        <p:txBody>
          <a:bodyPr wrap="square" lIns="0" tIns="0" rIns="0" bIns="0" rtlCol="0" anchor="ctr"/>
          <a:lstStyle/>
          <a:p>
            <a:pPr marL="0" indent="0">
              <a:buNone/>
            </a:pPr>
            <a:r>
              <a:rPr lang="en-US" sz="1550" b="1" dirty="0">
                <a:solidFill>
                  <a:srgbClr val="0A2647"/>
                </a:solidFill>
                <a:latin typeface="Cambria" pitchFamily="34" charset="0"/>
                <a:ea typeface="Cambria" pitchFamily="34" charset="-122"/>
                <a:cs typeface="Cambria" pitchFamily="34" charset="-120"/>
              </a:rPr>
              <a:t>Channel fading</a:t>
            </a:r>
            <a:endParaRPr lang="en-US" sz="1550" dirty="0"/>
          </a:p>
        </p:txBody>
      </p:sp>
      <p:sp>
        <p:nvSpPr>
          <p:cNvPr id="14" name="Text 10"/>
          <p:cNvSpPr/>
          <p:nvPr/>
        </p:nvSpPr>
        <p:spPr>
          <a:xfrm>
            <a:off x="7315200" y="3172968"/>
            <a:ext cx="3886200" cy="731520"/>
          </a:xfrm>
          <a:prstGeom prst="rect">
            <a:avLst/>
          </a:prstGeom>
          <a:noFill/>
          <a:ln/>
        </p:spPr>
        <p:txBody>
          <a:bodyPr wrap="square" lIns="0" tIns="0" rIns="0" bIns="0" rtlCol="0" anchor="ctr"/>
          <a:lstStyle/>
          <a:p>
            <a:pPr marL="0" indent="0">
              <a:lnSpc>
                <a:spcPct val="120000"/>
              </a:lnSpc>
              <a:buNone/>
            </a:pPr>
            <a:r>
              <a:rPr lang="en-US" sz="1150" dirty="0">
                <a:solidFill>
                  <a:srgbClr val="5C7A93"/>
                </a:solidFill>
                <a:latin typeface="Calibri" pitchFamily="34" charset="0"/>
                <a:ea typeface="Calibri" pitchFamily="34" charset="-122"/>
                <a:cs typeface="Calibri" pitchFamily="34" charset="-120"/>
              </a:rPr>
              <a:t>Multipath propagation causes Rayleigh fading that randomly attenuates the signal.</a:t>
            </a:r>
            <a:endParaRPr lang="en-US" sz="1150" dirty="0"/>
          </a:p>
        </p:txBody>
      </p:sp>
      <p:sp>
        <p:nvSpPr>
          <p:cNvPr id="15" name="Shape 11"/>
          <p:cNvSpPr/>
          <p:nvPr/>
        </p:nvSpPr>
        <p:spPr>
          <a:xfrm>
            <a:off x="548640" y="4343400"/>
            <a:ext cx="5212080" cy="1417320"/>
          </a:xfrm>
          <a:prstGeom prst="roundRect">
            <a:avLst>
              <a:gd name="adj" fmla="val 5161"/>
            </a:avLst>
          </a:prstGeom>
          <a:solidFill>
            <a:srgbClr val="FFFFFF"/>
          </a:solidFill>
          <a:ln/>
          <a:effectLst>
            <a:outerShdw blurRad="101600" dist="38100" dir="2700000" algn="bl" rotWithShape="0">
              <a:srgbClr val="0A2647">
                <a:alpha val="12000"/>
              </a:srgbClr>
            </a:outerShdw>
          </a:effectLst>
        </p:spPr>
      </p:sp>
      <p:sp>
        <p:nvSpPr>
          <p:cNvPr id="16" name="Shape 12"/>
          <p:cNvSpPr/>
          <p:nvPr/>
        </p:nvSpPr>
        <p:spPr>
          <a:xfrm>
            <a:off x="822960" y="4599432"/>
            <a:ext cx="640080" cy="640080"/>
          </a:xfrm>
          <a:prstGeom prst="ellipse">
            <a:avLst/>
          </a:prstGeom>
          <a:solidFill>
            <a:srgbClr val="0A2647"/>
          </a:solidFill>
          <a:ln/>
        </p:spPr>
      </p:sp>
      <p:pic>
        <p:nvPicPr>
          <p:cNvPr id="17" name="Image 2" descr="icons/FaVolumeMute_amber.png"/>
          <p:cNvPicPr>
            <a:picLocks noChangeAspect="1"/>
          </p:cNvPicPr>
          <p:nvPr/>
        </p:nvPicPr>
        <p:blipFill>
          <a:blip r:embed="rId5"/>
          <a:stretch>
            <a:fillRect/>
          </a:stretch>
        </p:blipFill>
        <p:spPr>
          <a:xfrm>
            <a:off x="995782" y="4772254"/>
            <a:ext cx="294437" cy="294437"/>
          </a:xfrm>
          <a:prstGeom prst="rect">
            <a:avLst/>
          </a:prstGeom>
        </p:spPr>
      </p:pic>
      <p:sp>
        <p:nvSpPr>
          <p:cNvPr id="18" name="Text 13"/>
          <p:cNvSpPr/>
          <p:nvPr/>
        </p:nvSpPr>
        <p:spPr>
          <a:xfrm>
            <a:off x="1645920" y="4544568"/>
            <a:ext cx="3931920" cy="365760"/>
          </a:xfrm>
          <a:prstGeom prst="rect">
            <a:avLst/>
          </a:prstGeom>
          <a:noFill/>
          <a:ln/>
        </p:spPr>
        <p:txBody>
          <a:bodyPr wrap="square" lIns="0" tIns="0" rIns="0" bIns="0" rtlCol="0" anchor="ctr"/>
          <a:lstStyle/>
          <a:p>
            <a:pPr marL="0" indent="0">
              <a:buNone/>
            </a:pPr>
            <a:r>
              <a:rPr lang="en-US" sz="1550" b="1" dirty="0">
                <a:solidFill>
                  <a:srgbClr val="0A2647"/>
                </a:solidFill>
                <a:latin typeface="Cambria" pitchFamily="34" charset="0"/>
                <a:ea typeface="Cambria" pitchFamily="34" charset="-122"/>
                <a:cs typeface="Cambria" pitchFamily="34" charset="-120"/>
              </a:rPr>
              <a:t>Noise mitigation</a:t>
            </a:r>
            <a:endParaRPr lang="en-US" sz="1550" dirty="0"/>
          </a:p>
        </p:txBody>
      </p:sp>
      <p:sp>
        <p:nvSpPr>
          <p:cNvPr id="19" name="Text 14"/>
          <p:cNvSpPr/>
          <p:nvPr/>
        </p:nvSpPr>
        <p:spPr>
          <a:xfrm>
            <a:off x="1645920" y="4910328"/>
            <a:ext cx="3886200" cy="731520"/>
          </a:xfrm>
          <a:prstGeom prst="rect">
            <a:avLst/>
          </a:prstGeom>
          <a:noFill/>
          <a:ln/>
        </p:spPr>
        <p:txBody>
          <a:bodyPr wrap="square" lIns="0" tIns="0" rIns="0" bIns="0" rtlCol="0" anchor="ctr"/>
          <a:lstStyle/>
          <a:p>
            <a:pPr marL="0" indent="0">
              <a:lnSpc>
                <a:spcPct val="120000"/>
              </a:lnSpc>
              <a:buNone/>
            </a:pPr>
            <a:r>
              <a:rPr lang="en-US" sz="1150" dirty="0">
                <a:solidFill>
                  <a:srgbClr val="5C7A93"/>
                </a:solidFill>
                <a:latin typeface="Calibri" pitchFamily="34" charset="0"/>
                <a:ea typeface="Calibri" pitchFamily="34" charset="-122"/>
                <a:cs typeface="Calibri" pitchFamily="34" charset="-120"/>
              </a:rPr>
              <a:t>Additive white Gaussian noise corrupts the received signal and must be combated.</a:t>
            </a:r>
            <a:endParaRPr lang="en-US" sz="1150" dirty="0"/>
          </a:p>
        </p:txBody>
      </p:sp>
      <p:sp>
        <p:nvSpPr>
          <p:cNvPr id="20" name="Shape 15"/>
          <p:cNvSpPr/>
          <p:nvPr/>
        </p:nvSpPr>
        <p:spPr>
          <a:xfrm>
            <a:off x="6217920" y="4343400"/>
            <a:ext cx="5212080" cy="1417320"/>
          </a:xfrm>
          <a:prstGeom prst="roundRect">
            <a:avLst>
              <a:gd name="adj" fmla="val 5161"/>
            </a:avLst>
          </a:prstGeom>
          <a:solidFill>
            <a:srgbClr val="FFFFFF"/>
          </a:solidFill>
          <a:ln/>
          <a:effectLst>
            <a:outerShdw blurRad="101600" dist="38100" dir="2700000" algn="bl" rotWithShape="0">
              <a:srgbClr val="0A2647">
                <a:alpha val="12000"/>
              </a:srgbClr>
            </a:outerShdw>
          </a:effectLst>
        </p:spPr>
      </p:sp>
      <p:sp>
        <p:nvSpPr>
          <p:cNvPr id="21" name="Shape 16"/>
          <p:cNvSpPr/>
          <p:nvPr/>
        </p:nvSpPr>
        <p:spPr>
          <a:xfrm>
            <a:off x="6492240" y="4599432"/>
            <a:ext cx="640080" cy="640080"/>
          </a:xfrm>
          <a:prstGeom prst="ellipse">
            <a:avLst/>
          </a:prstGeom>
          <a:solidFill>
            <a:srgbClr val="0A2647"/>
          </a:solidFill>
          <a:ln/>
        </p:spPr>
      </p:sp>
      <p:pic>
        <p:nvPicPr>
          <p:cNvPr id="22" name="Image 3" descr="icons/FaCheckCircle_amber.png"/>
          <p:cNvPicPr>
            <a:picLocks noChangeAspect="1"/>
          </p:cNvPicPr>
          <p:nvPr/>
        </p:nvPicPr>
        <p:blipFill>
          <a:blip r:embed="rId6"/>
          <a:stretch>
            <a:fillRect/>
          </a:stretch>
        </p:blipFill>
        <p:spPr>
          <a:xfrm>
            <a:off x="6665062" y="4772254"/>
            <a:ext cx="294437" cy="294437"/>
          </a:xfrm>
          <a:prstGeom prst="rect">
            <a:avLst/>
          </a:prstGeom>
        </p:spPr>
      </p:pic>
      <p:sp>
        <p:nvSpPr>
          <p:cNvPr id="23" name="Text 17"/>
          <p:cNvSpPr/>
          <p:nvPr/>
        </p:nvSpPr>
        <p:spPr>
          <a:xfrm>
            <a:off x="7315200" y="4544568"/>
            <a:ext cx="3931920" cy="365760"/>
          </a:xfrm>
          <a:prstGeom prst="rect">
            <a:avLst/>
          </a:prstGeom>
          <a:noFill/>
          <a:ln/>
        </p:spPr>
        <p:txBody>
          <a:bodyPr wrap="square" lIns="0" tIns="0" rIns="0" bIns="0" rtlCol="0" anchor="ctr"/>
          <a:lstStyle/>
          <a:p>
            <a:pPr marL="0" indent="0">
              <a:buNone/>
            </a:pPr>
            <a:r>
              <a:rPr lang="en-US" sz="1550" b="1" dirty="0">
                <a:solidFill>
                  <a:srgbClr val="0A2647"/>
                </a:solidFill>
                <a:latin typeface="Cambria" pitchFamily="34" charset="0"/>
                <a:ea typeface="Cambria" pitchFamily="34" charset="-122"/>
                <a:cs typeface="Cambria" pitchFamily="34" charset="-120"/>
              </a:rPr>
              <a:t>Reliable data transmission</a:t>
            </a:r>
            <a:endParaRPr lang="en-US" sz="1550" dirty="0"/>
          </a:p>
        </p:txBody>
      </p:sp>
      <p:sp>
        <p:nvSpPr>
          <p:cNvPr id="24" name="Text 18"/>
          <p:cNvSpPr/>
          <p:nvPr/>
        </p:nvSpPr>
        <p:spPr>
          <a:xfrm>
            <a:off x="7315200" y="4910328"/>
            <a:ext cx="3886200" cy="731520"/>
          </a:xfrm>
          <a:prstGeom prst="rect">
            <a:avLst/>
          </a:prstGeom>
          <a:noFill/>
          <a:ln/>
        </p:spPr>
        <p:txBody>
          <a:bodyPr wrap="square" lIns="0" tIns="0" rIns="0" bIns="0" rtlCol="0" anchor="ctr"/>
          <a:lstStyle/>
          <a:p>
            <a:pPr marL="0" indent="0">
              <a:lnSpc>
                <a:spcPct val="120000"/>
              </a:lnSpc>
              <a:buNone/>
            </a:pPr>
            <a:r>
              <a:rPr lang="en-US" sz="1150" dirty="0">
                <a:solidFill>
                  <a:srgbClr val="5C7A93"/>
                </a:solidFill>
                <a:latin typeface="Calibri" pitchFamily="34" charset="0"/>
                <a:ea typeface="Calibri" pitchFamily="34" charset="-122"/>
                <a:cs typeface="Calibri" pitchFamily="34" charset="-120"/>
              </a:rPr>
              <a:t>Coding, spreading, and equalization must combine to guarantee low error rates.</a:t>
            </a:r>
            <a:endParaRPr lang="en-US" sz="1150" dirty="0"/>
          </a:p>
        </p:txBody>
      </p:sp>
      <p:sp>
        <p:nvSpPr>
          <p:cNvPr id="25" name="Text 19"/>
          <p:cNvSpPr/>
          <p:nvPr/>
        </p:nvSpPr>
        <p:spPr>
          <a:xfrm>
            <a:off x="548640" y="6355080"/>
            <a:ext cx="4572000" cy="320040"/>
          </a:xfrm>
          <a:prstGeom prst="rect">
            <a:avLst/>
          </a:prstGeom>
          <a:noFill/>
          <a:ln/>
        </p:spPr>
        <p:txBody>
          <a:bodyPr wrap="square" lIns="0" tIns="0" rIns="0" bIns="0" rtlCol="0" anchor="ctr"/>
          <a:lstStyle/>
          <a:p>
            <a:pPr marL="0" indent="0">
              <a:buNone/>
            </a:pPr>
            <a:r>
              <a:rPr lang="en-US" sz="950" kern="0" spc="150" dirty="0">
                <a:solidFill>
                  <a:srgbClr val="5C7A93"/>
                </a:solidFill>
                <a:latin typeface="Calibri" pitchFamily="34" charset="0"/>
                <a:ea typeface="Calibri" pitchFamily="34" charset="-122"/>
                <a:cs typeface="Calibri" pitchFamily="34" charset="-120"/>
              </a:rPr>
              <a:t>MC-CDMA  •  OFDM SIMULATION</a:t>
            </a:r>
            <a:endParaRPr lang="en-US" sz="950" dirty="0"/>
          </a:p>
        </p:txBody>
      </p:sp>
      <p:sp>
        <p:nvSpPr>
          <p:cNvPr id="26" name="Text 20"/>
          <p:cNvSpPr/>
          <p:nvPr/>
        </p:nvSpPr>
        <p:spPr>
          <a:xfrm>
            <a:off x="11368735" y="6355080"/>
            <a:ext cx="548640" cy="320040"/>
          </a:xfrm>
          <a:prstGeom prst="rect">
            <a:avLst/>
          </a:prstGeom>
          <a:noFill/>
          <a:ln/>
        </p:spPr>
        <p:txBody>
          <a:bodyPr wrap="square" lIns="0" tIns="0" rIns="0" bIns="0" rtlCol="0" anchor="ctr"/>
          <a:lstStyle/>
          <a:p>
            <a:pPr marL="0" indent="0" algn="r">
              <a:buNone/>
            </a:pPr>
            <a:r>
              <a:rPr lang="en-US" sz="1000" dirty="0">
                <a:solidFill>
                  <a:srgbClr val="5C7A93"/>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48640" y="749808"/>
            <a:ext cx="9601200" cy="822960"/>
          </a:xfrm>
          <a:prstGeom prst="rect">
            <a:avLst/>
          </a:prstGeom>
          <a:noFill/>
          <a:ln/>
        </p:spPr>
        <p:txBody>
          <a:bodyPr wrap="square" lIns="0" tIns="0" rIns="0" bIns="0" rtlCol="0" anchor="ctr"/>
          <a:lstStyle/>
          <a:p>
            <a:pPr marL="0" indent="0">
              <a:buNone/>
            </a:pPr>
            <a:r>
              <a:rPr lang="en-US" sz="3200" b="1" dirty="0">
                <a:solidFill>
                  <a:srgbClr val="0A2647"/>
                </a:solidFill>
                <a:latin typeface="Cambria" pitchFamily="34" charset="0"/>
                <a:ea typeface="Cambria" pitchFamily="34" charset="-122"/>
                <a:cs typeface="Cambria" pitchFamily="34" charset="-120"/>
              </a:rPr>
              <a:t>System Overview</a:t>
            </a:r>
            <a:endParaRPr lang="en-US" sz="3200" dirty="0"/>
          </a:p>
        </p:txBody>
      </p:sp>
      <p:sp>
        <p:nvSpPr>
          <p:cNvPr id="4" name="Text 2"/>
          <p:cNvSpPr/>
          <p:nvPr/>
        </p:nvSpPr>
        <p:spPr>
          <a:xfrm>
            <a:off x="548640" y="1508760"/>
            <a:ext cx="8229600" cy="365760"/>
          </a:xfrm>
          <a:prstGeom prst="rect">
            <a:avLst/>
          </a:prstGeom>
          <a:noFill/>
          <a:ln/>
        </p:spPr>
        <p:txBody>
          <a:bodyPr wrap="square" lIns="0" tIns="0" rIns="0" bIns="0" rtlCol="0" anchor="ctr"/>
          <a:lstStyle/>
          <a:p>
            <a:pPr marL="0" indent="0">
              <a:buNone/>
            </a:pPr>
            <a:r>
              <a:rPr lang="en-US" sz="1400" dirty="0">
                <a:solidFill>
                  <a:srgbClr val="5C7A93"/>
                </a:solidFill>
                <a:latin typeface="Calibri" pitchFamily="34" charset="0"/>
                <a:ea typeface="Calibri" pitchFamily="34" charset="-122"/>
                <a:cs typeface="Calibri" pitchFamily="34" charset="-120"/>
              </a:rPr>
              <a:t>End-to-end signal path from raw information bits to the receiver.</a:t>
            </a:r>
            <a:endParaRPr lang="en-US" sz="1400" dirty="0"/>
          </a:p>
        </p:txBody>
      </p:sp>
      <p:sp>
        <p:nvSpPr>
          <p:cNvPr id="5" name="Shape 3"/>
          <p:cNvSpPr/>
          <p:nvPr/>
        </p:nvSpPr>
        <p:spPr>
          <a:xfrm>
            <a:off x="548640" y="2834640"/>
            <a:ext cx="1417320" cy="1371600"/>
          </a:xfrm>
          <a:prstGeom prst="roundRect">
            <a:avLst>
              <a:gd name="adj" fmla="val 6667"/>
            </a:avLst>
          </a:prstGeom>
          <a:solidFill>
            <a:srgbClr val="0F3460"/>
          </a:solidFill>
          <a:ln/>
          <a:effectLst>
            <a:outerShdw blurRad="101600" dist="38100" dir="2700000" algn="bl" rotWithShape="0">
              <a:srgbClr val="0A2647">
                <a:alpha val="12000"/>
              </a:srgbClr>
            </a:outerShdw>
          </a:effectLst>
        </p:spPr>
      </p:sp>
      <p:sp>
        <p:nvSpPr>
          <p:cNvPr id="6" name="Text 4"/>
          <p:cNvSpPr/>
          <p:nvPr/>
        </p:nvSpPr>
        <p:spPr>
          <a:xfrm>
            <a:off x="548640" y="2834640"/>
            <a:ext cx="1417320" cy="1371600"/>
          </a:xfrm>
          <a:prstGeom prst="rect">
            <a:avLst/>
          </a:prstGeom>
          <a:noFill/>
          <a:ln/>
        </p:spPr>
        <p:txBody>
          <a:bodyPr wrap="square" lIns="0" tIns="0" rIns="0" bIns="0"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Information</a:t>
            </a:r>
            <a:endParaRPr lang="en-US" sz="1300" dirty="0"/>
          </a:p>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Bits</a:t>
            </a:r>
            <a:endParaRPr lang="en-US" sz="1300" dirty="0"/>
          </a:p>
        </p:txBody>
      </p:sp>
      <p:sp>
        <p:nvSpPr>
          <p:cNvPr id="7" name="Shape 5"/>
          <p:cNvSpPr/>
          <p:nvPr/>
        </p:nvSpPr>
        <p:spPr>
          <a:xfrm>
            <a:off x="1965960" y="3520440"/>
            <a:ext cx="195529" cy="0"/>
          </a:xfrm>
          <a:prstGeom prst="line">
            <a:avLst/>
          </a:prstGeom>
          <a:noFill/>
          <a:ln w="31750">
            <a:solidFill>
              <a:srgbClr val="F2A341"/>
            </a:solidFill>
            <a:prstDash val="solid"/>
            <a:tailEnd type="triangle"/>
          </a:ln>
        </p:spPr>
      </p:sp>
      <p:sp>
        <p:nvSpPr>
          <p:cNvPr id="8" name="Shape 6"/>
          <p:cNvSpPr/>
          <p:nvPr/>
        </p:nvSpPr>
        <p:spPr>
          <a:xfrm>
            <a:off x="2161489" y="2834640"/>
            <a:ext cx="1417320" cy="1371600"/>
          </a:xfrm>
          <a:prstGeom prst="roundRect">
            <a:avLst>
              <a:gd name="adj" fmla="val 6667"/>
            </a:avLst>
          </a:prstGeom>
          <a:solidFill>
            <a:srgbClr val="1C7293"/>
          </a:solidFill>
          <a:ln/>
          <a:effectLst>
            <a:outerShdw blurRad="101600" dist="38100" dir="2700000" algn="bl" rotWithShape="0">
              <a:srgbClr val="0A2647">
                <a:alpha val="12000"/>
              </a:srgbClr>
            </a:outerShdw>
          </a:effectLst>
        </p:spPr>
      </p:sp>
      <p:sp>
        <p:nvSpPr>
          <p:cNvPr id="9" name="Text 7"/>
          <p:cNvSpPr/>
          <p:nvPr/>
        </p:nvSpPr>
        <p:spPr>
          <a:xfrm>
            <a:off x="2161489" y="2834640"/>
            <a:ext cx="1417320" cy="1371600"/>
          </a:xfrm>
          <a:prstGeom prst="rect">
            <a:avLst/>
          </a:prstGeom>
          <a:noFill/>
          <a:ln/>
        </p:spPr>
        <p:txBody>
          <a:bodyPr wrap="square" lIns="0" tIns="0" rIns="0" bIns="0"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FEC</a:t>
            </a:r>
            <a:endParaRPr lang="en-US" sz="1300" dirty="0"/>
          </a:p>
        </p:txBody>
      </p:sp>
      <p:sp>
        <p:nvSpPr>
          <p:cNvPr id="10" name="Shape 8"/>
          <p:cNvSpPr/>
          <p:nvPr/>
        </p:nvSpPr>
        <p:spPr>
          <a:xfrm>
            <a:off x="3578809" y="3520440"/>
            <a:ext cx="195529" cy="0"/>
          </a:xfrm>
          <a:prstGeom prst="line">
            <a:avLst/>
          </a:prstGeom>
          <a:noFill/>
          <a:ln w="31750">
            <a:solidFill>
              <a:srgbClr val="F2A341"/>
            </a:solidFill>
            <a:prstDash val="solid"/>
            <a:tailEnd type="triangle"/>
          </a:ln>
        </p:spPr>
      </p:sp>
      <p:sp>
        <p:nvSpPr>
          <p:cNvPr id="11" name="Shape 9"/>
          <p:cNvSpPr/>
          <p:nvPr/>
        </p:nvSpPr>
        <p:spPr>
          <a:xfrm>
            <a:off x="3774338" y="2834640"/>
            <a:ext cx="1417320" cy="1371600"/>
          </a:xfrm>
          <a:prstGeom prst="roundRect">
            <a:avLst>
              <a:gd name="adj" fmla="val 6667"/>
            </a:avLst>
          </a:prstGeom>
          <a:solidFill>
            <a:srgbClr val="1C7293"/>
          </a:solidFill>
          <a:ln/>
          <a:effectLst>
            <a:outerShdw blurRad="101600" dist="38100" dir="2700000" algn="bl" rotWithShape="0">
              <a:srgbClr val="0A2647">
                <a:alpha val="12000"/>
              </a:srgbClr>
            </a:outerShdw>
          </a:effectLst>
        </p:spPr>
      </p:sp>
      <p:sp>
        <p:nvSpPr>
          <p:cNvPr id="12" name="Text 10"/>
          <p:cNvSpPr/>
          <p:nvPr/>
        </p:nvSpPr>
        <p:spPr>
          <a:xfrm>
            <a:off x="3774338" y="2834640"/>
            <a:ext cx="1417320" cy="1371600"/>
          </a:xfrm>
          <a:prstGeom prst="rect">
            <a:avLst/>
          </a:prstGeom>
          <a:noFill/>
          <a:ln/>
        </p:spPr>
        <p:txBody>
          <a:bodyPr wrap="square" lIns="0" tIns="0" rIns="0" bIns="0"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QPSK</a:t>
            </a:r>
            <a:endParaRPr lang="en-US" sz="1300" dirty="0"/>
          </a:p>
        </p:txBody>
      </p:sp>
      <p:sp>
        <p:nvSpPr>
          <p:cNvPr id="13" name="Shape 11"/>
          <p:cNvSpPr/>
          <p:nvPr/>
        </p:nvSpPr>
        <p:spPr>
          <a:xfrm>
            <a:off x="5191658" y="3520440"/>
            <a:ext cx="195529" cy="0"/>
          </a:xfrm>
          <a:prstGeom prst="line">
            <a:avLst/>
          </a:prstGeom>
          <a:noFill/>
          <a:ln w="31750">
            <a:solidFill>
              <a:srgbClr val="F2A341"/>
            </a:solidFill>
            <a:prstDash val="solid"/>
            <a:tailEnd type="triangle"/>
          </a:ln>
        </p:spPr>
      </p:sp>
      <p:sp>
        <p:nvSpPr>
          <p:cNvPr id="14" name="Shape 12"/>
          <p:cNvSpPr/>
          <p:nvPr/>
        </p:nvSpPr>
        <p:spPr>
          <a:xfrm>
            <a:off x="5387188" y="2834640"/>
            <a:ext cx="1417320" cy="1371600"/>
          </a:xfrm>
          <a:prstGeom prst="roundRect">
            <a:avLst>
              <a:gd name="adj" fmla="val 6667"/>
            </a:avLst>
          </a:prstGeom>
          <a:solidFill>
            <a:srgbClr val="1C7293"/>
          </a:solidFill>
          <a:ln/>
          <a:effectLst>
            <a:outerShdw blurRad="101600" dist="38100" dir="2700000" algn="bl" rotWithShape="0">
              <a:srgbClr val="0A2647">
                <a:alpha val="12000"/>
              </a:srgbClr>
            </a:outerShdw>
          </a:effectLst>
        </p:spPr>
      </p:sp>
      <p:sp>
        <p:nvSpPr>
          <p:cNvPr id="15" name="Text 13"/>
          <p:cNvSpPr/>
          <p:nvPr/>
        </p:nvSpPr>
        <p:spPr>
          <a:xfrm>
            <a:off x="5387188" y="2834640"/>
            <a:ext cx="1417320" cy="1371600"/>
          </a:xfrm>
          <a:prstGeom prst="rect">
            <a:avLst/>
          </a:prstGeom>
          <a:noFill/>
          <a:ln/>
        </p:spPr>
        <p:txBody>
          <a:bodyPr wrap="square" lIns="0" tIns="0" rIns="0" bIns="0"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Walsh</a:t>
            </a:r>
            <a:endParaRPr lang="en-US" sz="1300" dirty="0"/>
          </a:p>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Spreading</a:t>
            </a:r>
            <a:endParaRPr lang="en-US" sz="1300" dirty="0"/>
          </a:p>
        </p:txBody>
      </p:sp>
      <p:sp>
        <p:nvSpPr>
          <p:cNvPr id="16" name="Shape 14"/>
          <p:cNvSpPr/>
          <p:nvPr/>
        </p:nvSpPr>
        <p:spPr>
          <a:xfrm>
            <a:off x="6804508" y="3520440"/>
            <a:ext cx="195529" cy="0"/>
          </a:xfrm>
          <a:prstGeom prst="line">
            <a:avLst/>
          </a:prstGeom>
          <a:noFill/>
          <a:ln w="31750">
            <a:solidFill>
              <a:srgbClr val="F2A341"/>
            </a:solidFill>
            <a:prstDash val="solid"/>
            <a:tailEnd type="triangle"/>
          </a:ln>
        </p:spPr>
      </p:sp>
      <p:sp>
        <p:nvSpPr>
          <p:cNvPr id="17" name="Shape 15"/>
          <p:cNvSpPr/>
          <p:nvPr/>
        </p:nvSpPr>
        <p:spPr>
          <a:xfrm>
            <a:off x="7000037" y="2834640"/>
            <a:ext cx="1417320" cy="1371600"/>
          </a:xfrm>
          <a:prstGeom prst="roundRect">
            <a:avLst>
              <a:gd name="adj" fmla="val 6667"/>
            </a:avLst>
          </a:prstGeom>
          <a:solidFill>
            <a:srgbClr val="1C7293"/>
          </a:solidFill>
          <a:ln/>
          <a:effectLst>
            <a:outerShdw blurRad="101600" dist="38100" dir="2700000" algn="bl" rotWithShape="0">
              <a:srgbClr val="0A2647">
                <a:alpha val="12000"/>
              </a:srgbClr>
            </a:outerShdw>
          </a:effectLst>
        </p:spPr>
      </p:sp>
      <p:sp>
        <p:nvSpPr>
          <p:cNvPr id="18" name="Text 16"/>
          <p:cNvSpPr/>
          <p:nvPr/>
        </p:nvSpPr>
        <p:spPr>
          <a:xfrm>
            <a:off x="7000037" y="2834640"/>
            <a:ext cx="1417320" cy="1371600"/>
          </a:xfrm>
          <a:prstGeom prst="rect">
            <a:avLst/>
          </a:prstGeom>
          <a:noFill/>
          <a:ln/>
        </p:spPr>
        <p:txBody>
          <a:bodyPr wrap="square" lIns="0" tIns="0" rIns="0" bIns="0"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OFDM</a:t>
            </a:r>
            <a:endParaRPr lang="en-US" sz="1300" dirty="0"/>
          </a:p>
        </p:txBody>
      </p:sp>
      <p:sp>
        <p:nvSpPr>
          <p:cNvPr id="19" name="Shape 17"/>
          <p:cNvSpPr/>
          <p:nvPr/>
        </p:nvSpPr>
        <p:spPr>
          <a:xfrm>
            <a:off x="8417357" y="3520440"/>
            <a:ext cx="195529" cy="0"/>
          </a:xfrm>
          <a:prstGeom prst="line">
            <a:avLst/>
          </a:prstGeom>
          <a:noFill/>
          <a:ln w="31750">
            <a:solidFill>
              <a:srgbClr val="F2A341"/>
            </a:solidFill>
            <a:prstDash val="solid"/>
            <a:tailEnd type="triangle"/>
          </a:ln>
        </p:spPr>
      </p:sp>
      <p:sp>
        <p:nvSpPr>
          <p:cNvPr id="20" name="Shape 18"/>
          <p:cNvSpPr/>
          <p:nvPr/>
        </p:nvSpPr>
        <p:spPr>
          <a:xfrm>
            <a:off x="8612886" y="2834640"/>
            <a:ext cx="1417320" cy="1371600"/>
          </a:xfrm>
          <a:prstGeom prst="roundRect">
            <a:avLst>
              <a:gd name="adj" fmla="val 6667"/>
            </a:avLst>
          </a:prstGeom>
          <a:solidFill>
            <a:srgbClr val="8A8FA3"/>
          </a:solidFill>
          <a:ln/>
          <a:effectLst>
            <a:outerShdw blurRad="101600" dist="38100" dir="2700000" algn="bl" rotWithShape="0">
              <a:srgbClr val="0A2647">
                <a:alpha val="12000"/>
              </a:srgbClr>
            </a:outerShdw>
          </a:effectLst>
        </p:spPr>
      </p:sp>
      <p:sp>
        <p:nvSpPr>
          <p:cNvPr id="21" name="Text 19"/>
          <p:cNvSpPr/>
          <p:nvPr/>
        </p:nvSpPr>
        <p:spPr>
          <a:xfrm>
            <a:off x="8612886" y="2834640"/>
            <a:ext cx="1417320" cy="1371600"/>
          </a:xfrm>
          <a:prstGeom prst="rect">
            <a:avLst/>
          </a:prstGeom>
          <a:noFill/>
          <a:ln/>
        </p:spPr>
        <p:txBody>
          <a:bodyPr wrap="square" lIns="0" tIns="0" rIns="0" bIns="0"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Channel</a:t>
            </a:r>
            <a:endParaRPr lang="en-US" sz="1300" dirty="0"/>
          </a:p>
        </p:txBody>
      </p:sp>
      <p:sp>
        <p:nvSpPr>
          <p:cNvPr id="22" name="Shape 20"/>
          <p:cNvSpPr/>
          <p:nvPr/>
        </p:nvSpPr>
        <p:spPr>
          <a:xfrm>
            <a:off x="10030206" y="3520440"/>
            <a:ext cx="195529" cy="0"/>
          </a:xfrm>
          <a:prstGeom prst="line">
            <a:avLst/>
          </a:prstGeom>
          <a:noFill/>
          <a:ln w="31750">
            <a:solidFill>
              <a:srgbClr val="F2A341"/>
            </a:solidFill>
            <a:prstDash val="solid"/>
            <a:tailEnd type="triangle"/>
          </a:ln>
        </p:spPr>
      </p:sp>
      <p:sp>
        <p:nvSpPr>
          <p:cNvPr id="23" name="Shape 21"/>
          <p:cNvSpPr/>
          <p:nvPr/>
        </p:nvSpPr>
        <p:spPr>
          <a:xfrm>
            <a:off x="10225735" y="2834640"/>
            <a:ext cx="1417320" cy="1371600"/>
          </a:xfrm>
          <a:prstGeom prst="roundRect">
            <a:avLst>
              <a:gd name="adj" fmla="val 6667"/>
            </a:avLst>
          </a:prstGeom>
          <a:solidFill>
            <a:srgbClr val="0F3460"/>
          </a:solidFill>
          <a:ln/>
          <a:effectLst>
            <a:outerShdw blurRad="101600" dist="38100" dir="2700000" algn="bl" rotWithShape="0">
              <a:srgbClr val="0A2647">
                <a:alpha val="12000"/>
              </a:srgbClr>
            </a:outerShdw>
          </a:effectLst>
        </p:spPr>
      </p:sp>
      <p:sp>
        <p:nvSpPr>
          <p:cNvPr id="24" name="Text 22"/>
          <p:cNvSpPr/>
          <p:nvPr/>
        </p:nvSpPr>
        <p:spPr>
          <a:xfrm>
            <a:off x="10225735" y="2834640"/>
            <a:ext cx="1417320" cy="1371600"/>
          </a:xfrm>
          <a:prstGeom prst="rect">
            <a:avLst/>
          </a:prstGeom>
          <a:noFill/>
          <a:ln/>
        </p:spPr>
        <p:txBody>
          <a:bodyPr wrap="square" lIns="0" tIns="0" rIns="0" bIns="0"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Receiver</a:t>
            </a:r>
            <a:endParaRPr lang="en-US" sz="1300" dirty="0"/>
          </a:p>
        </p:txBody>
      </p:sp>
      <p:sp>
        <p:nvSpPr>
          <p:cNvPr id="25" name="Text 23"/>
          <p:cNvSpPr/>
          <p:nvPr/>
        </p:nvSpPr>
        <p:spPr>
          <a:xfrm>
            <a:off x="548640" y="4663440"/>
            <a:ext cx="10789920" cy="822960"/>
          </a:xfrm>
          <a:prstGeom prst="rect">
            <a:avLst/>
          </a:prstGeom>
          <a:noFill/>
          <a:ln/>
        </p:spPr>
        <p:txBody>
          <a:bodyPr wrap="square" lIns="0" tIns="0" rIns="0" bIns="0" rtlCol="0" anchor="ctr"/>
          <a:lstStyle/>
          <a:p>
            <a:pPr marL="0" indent="0">
              <a:lnSpc>
                <a:spcPct val="130000"/>
              </a:lnSpc>
              <a:buNone/>
            </a:pPr>
            <a:r>
              <a:rPr lang="en-US" sz="1300" dirty="0">
                <a:solidFill>
                  <a:srgbClr val="13293D"/>
                </a:solidFill>
                <a:latin typeface="Calibri" pitchFamily="34" charset="0"/>
                <a:ea typeface="Calibri" pitchFamily="34" charset="-122"/>
                <a:cs typeface="Calibri" pitchFamily="34" charset="-120"/>
              </a:rPr>
              <a:t>Bits are protected with forward error correction, modulated onto QPSK symbols, spread with Walsh codes for multiple access, carried on OFDM subcarriers across the wireless channel, then reversed at the receiver.</a:t>
            </a:r>
            <a:endParaRPr lang="en-US" sz="1300" dirty="0"/>
          </a:p>
        </p:txBody>
      </p:sp>
      <p:sp>
        <p:nvSpPr>
          <p:cNvPr id="26" name="Text 24"/>
          <p:cNvSpPr/>
          <p:nvPr/>
        </p:nvSpPr>
        <p:spPr>
          <a:xfrm>
            <a:off x="548640" y="6355080"/>
            <a:ext cx="4572000" cy="320040"/>
          </a:xfrm>
          <a:prstGeom prst="rect">
            <a:avLst/>
          </a:prstGeom>
          <a:noFill/>
          <a:ln/>
        </p:spPr>
        <p:txBody>
          <a:bodyPr wrap="square" lIns="0" tIns="0" rIns="0" bIns="0" rtlCol="0" anchor="ctr"/>
          <a:lstStyle/>
          <a:p>
            <a:pPr marL="0" indent="0">
              <a:buNone/>
            </a:pPr>
            <a:r>
              <a:rPr lang="en-US" sz="950" kern="0" spc="150" dirty="0">
                <a:solidFill>
                  <a:srgbClr val="5C7A93"/>
                </a:solidFill>
                <a:latin typeface="Calibri" pitchFamily="34" charset="0"/>
                <a:ea typeface="Calibri" pitchFamily="34" charset="-122"/>
                <a:cs typeface="Calibri" pitchFamily="34" charset="-120"/>
              </a:rPr>
              <a:t>MC-CDMA  •  OFDM SIMULATION</a:t>
            </a:r>
            <a:endParaRPr lang="en-US" sz="950" dirty="0"/>
          </a:p>
        </p:txBody>
      </p:sp>
      <p:sp>
        <p:nvSpPr>
          <p:cNvPr id="27" name="Text 25"/>
          <p:cNvSpPr/>
          <p:nvPr/>
        </p:nvSpPr>
        <p:spPr>
          <a:xfrm>
            <a:off x="11368735" y="6355080"/>
            <a:ext cx="548640" cy="320040"/>
          </a:xfrm>
          <a:prstGeom prst="rect">
            <a:avLst/>
          </a:prstGeom>
          <a:noFill/>
          <a:ln/>
        </p:spPr>
        <p:txBody>
          <a:bodyPr wrap="square" lIns="0" tIns="0" rIns="0" bIns="0" rtlCol="0" anchor="ctr"/>
          <a:lstStyle/>
          <a:p>
            <a:pPr marL="0" indent="0" algn="r">
              <a:buNone/>
            </a:pPr>
            <a:r>
              <a:rPr lang="en-US" sz="1000" dirty="0">
                <a:solidFill>
                  <a:srgbClr val="5C7A93"/>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48640" y="749808"/>
            <a:ext cx="9601200" cy="822960"/>
          </a:xfrm>
          <a:prstGeom prst="rect">
            <a:avLst/>
          </a:prstGeom>
          <a:noFill/>
          <a:ln/>
        </p:spPr>
        <p:txBody>
          <a:bodyPr wrap="square" lIns="0" tIns="0" rIns="0" bIns="0" rtlCol="0" anchor="ctr"/>
          <a:lstStyle/>
          <a:p>
            <a:pPr marL="0" indent="0">
              <a:buNone/>
            </a:pPr>
            <a:r>
              <a:rPr lang="en-US" sz="3200" b="1" dirty="0">
                <a:solidFill>
                  <a:srgbClr val="0A2647"/>
                </a:solidFill>
                <a:latin typeface="Cambria" pitchFamily="34" charset="0"/>
                <a:ea typeface="Cambria" pitchFamily="34" charset="-122"/>
                <a:cs typeface="Cambria" pitchFamily="34" charset="-120"/>
              </a:rPr>
              <a:t>Frame Structure</a:t>
            </a:r>
            <a:endParaRPr lang="en-US" sz="3200" dirty="0"/>
          </a:p>
        </p:txBody>
      </p:sp>
      <p:sp>
        <p:nvSpPr>
          <p:cNvPr id="4" name="Text 2"/>
          <p:cNvSpPr/>
          <p:nvPr/>
        </p:nvSpPr>
        <p:spPr>
          <a:xfrm>
            <a:off x="548640" y="1508760"/>
            <a:ext cx="8229600" cy="365760"/>
          </a:xfrm>
          <a:prstGeom prst="rect">
            <a:avLst/>
          </a:prstGeom>
          <a:noFill/>
          <a:ln/>
        </p:spPr>
        <p:txBody>
          <a:bodyPr wrap="square" lIns="0" tIns="0" rIns="0" bIns="0" rtlCol="0" anchor="ctr"/>
          <a:lstStyle/>
          <a:p>
            <a:pPr marL="0" indent="0">
              <a:buNone/>
            </a:pPr>
            <a:r>
              <a:rPr lang="en-US" sz="1400" dirty="0">
                <a:solidFill>
                  <a:srgbClr val="5C7A93"/>
                </a:solidFill>
                <a:latin typeface="Calibri" pitchFamily="34" charset="0"/>
                <a:ea typeface="Calibri" pitchFamily="34" charset="-122"/>
                <a:cs typeface="Calibri" pitchFamily="34" charset="-120"/>
              </a:rPr>
              <a:t>Layout of a single transmitted frame, segment by segment.</a:t>
            </a:r>
            <a:endParaRPr lang="en-US" sz="1400" dirty="0"/>
          </a:p>
        </p:txBody>
      </p:sp>
      <p:sp>
        <p:nvSpPr>
          <p:cNvPr id="5" name="Shape 3"/>
          <p:cNvSpPr/>
          <p:nvPr/>
        </p:nvSpPr>
        <p:spPr>
          <a:xfrm>
            <a:off x="700888" y="2926080"/>
            <a:ext cx="1188720" cy="1188720"/>
          </a:xfrm>
          <a:prstGeom prst="rect">
            <a:avLst/>
          </a:prstGeom>
          <a:solidFill>
            <a:srgbClr val="8A8FA3"/>
          </a:solidFill>
          <a:ln w="19050">
            <a:solidFill>
              <a:srgbClr val="FFFFFF"/>
            </a:solidFill>
            <a:prstDash val="solid"/>
          </a:ln>
        </p:spPr>
      </p:sp>
      <p:sp>
        <p:nvSpPr>
          <p:cNvPr id="6" name="Text 4"/>
          <p:cNvSpPr/>
          <p:nvPr/>
        </p:nvSpPr>
        <p:spPr>
          <a:xfrm>
            <a:off x="700888" y="2926080"/>
            <a:ext cx="1188720" cy="11887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AGC</a:t>
            </a:r>
            <a:endParaRPr lang="en-US" sz="1250" dirty="0"/>
          </a:p>
        </p:txBody>
      </p:sp>
      <p:sp>
        <p:nvSpPr>
          <p:cNvPr id="7" name="Shape 5"/>
          <p:cNvSpPr/>
          <p:nvPr/>
        </p:nvSpPr>
        <p:spPr>
          <a:xfrm>
            <a:off x="1889608" y="2926080"/>
            <a:ext cx="1828800" cy="1188720"/>
          </a:xfrm>
          <a:prstGeom prst="rect">
            <a:avLst/>
          </a:prstGeom>
          <a:solidFill>
            <a:srgbClr val="1C7293"/>
          </a:solidFill>
          <a:ln w="19050">
            <a:solidFill>
              <a:srgbClr val="FFFFFF"/>
            </a:solidFill>
            <a:prstDash val="solid"/>
          </a:ln>
        </p:spPr>
      </p:sp>
      <p:sp>
        <p:nvSpPr>
          <p:cNvPr id="8" name="Text 6"/>
          <p:cNvSpPr/>
          <p:nvPr/>
        </p:nvSpPr>
        <p:spPr>
          <a:xfrm>
            <a:off x="1889608" y="2926080"/>
            <a:ext cx="1828800" cy="11887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Barker Sync</a:t>
            </a:r>
            <a:endParaRPr lang="en-US" sz="1250" dirty="0"/>
          </a:p>
        </p:txBody>
      </p:sp>
      <p:sp>
        <p:nvSpPr>
          <p:cNvPr id="9" name="Shape 7"/>
          <p:cNvSpPr/>
          <p:nvPr/>
        </p:nvSpPr>
        <p:spPr>
          <a:xfrm>
            <a:off x="3718408" y="2926080"/>
            <a:ext cx="2377440" cy="1188720"/>
          </a:xfrm>
          <a:prstGeom prst="rect">
            <a:avLst/>
          </a:prstGeom>
          <a:solidFill>
            <a:srgbClr val="0F3460"/>
          </a:solidFill>
          <a:ln w="19050">
            <a:solidFill>
              <a:srgbClr val="FFFFFF"/>
            </a:solidFill>
            <a:prstDash val="solid"/>
          </a:ln>
        </p:spPr>
      </p:sp>
      <p:sp>
        <p:nvSpPr>
          <p:cNvPr id="10" name="Text 8"/>
          <p:cNvSpPr/>
          <p:nvPr/>
        </p:nvSpPr>
        <p:spPr>
          <a:xfrm>
            <a:off x="3718408" y="2926080"/>
            <a:ext cx="2377440" cy="11887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Training Sequence</a:t>
            </a:r>
            <a:endParaRPr lang="en-US" sz="1250" dirty="0"/>
          </a:p>
        </p:txBody>
      </p:sp>
      <p:sp>
        <p:nvSpPr>
          <p:cNvPr id="11" name="Shape 9"/>
          <p:cNvSpPr/>
          <p:nvPr/>
        </p:nvSpPr>
        <p:spPr>
          <a:xfrm>
            <a:off x="6095848" y="2926080"/>
            <a:ext cx="3840480" cy="1188720"/>
          </a:xfrm>
          <a:prstGeom prst="rect">
            <a:avLst/>
          </a:prstGeom>
          <a:solidFill>
            <a:srgbClr val="0A2647"/>
          </a:solidFill>
          <a:ln w="19050">
            <a:solidFill>
              <a:srgbClr val="FFFFFF"/>
            </a:solidFill>
            <a:prstDash val="solid"/>
          </a:ln>
        </p:spPr>
      </p:sp>
      <p:sp>
        <p:nvSpPr>
          <p:cNvPr id="12" name="Text 10"/>
          <p:cNvSpPr/>
          <p:nvPr/>
        </p:nvSpPr>
        <p:spPr>
          <a:xfrm>
            <a:off x="6095848" y="2926080"/>
            <a:ext cx="3840480" cy="11887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OFDM Payload</a:t>
            </a:r>
            <a:endParaRPr lang="en-US" sz="1250" dirty="0"/>
          </a:p>
        </p:txBody>
      </p:sp>
      <p:sp>
        <p:nvSpPr>
          <p:cNvPr id="13" name="Shape 11"/>
          <p:cNvSpPr/>
          <p:nvPr/>
        </p:nvSpPr>
        <p:spPr>
          <a:xfrm>
            <a:off x="9936328" y="2926080"/>
            <a:ext cx="1554480" cy="1188720"/>
          </a:xfrm>
          <a:prstGeom prst="rect">
            <a:avLst/>
          </a:prstGeom>
          <a:solidFill>
            <a:srgbClr val="F2A341"/>
          </a:solidFill>
          <a:ln w="19050">
            <a:solidFill>
              <a:srgbClr val="FFFFFF"/>
            </a:solidFill>
            <a:prstDash val="solid"/>
          </a:ln>
        </p:spPr>
      </p:sp>
      <p:sp>
        <p:nvSpPr>
          <p:cNvPr id="14" name="Text 12"/>
          <p:cNvSpPr/>
          <p:nvPr/>
        </p:nvSpPr>
        <p:spPr>
          <a:xfrm>
            <a:off x="9936328" y="2926080"/>
            <a:ext cx="1554480" cy="11887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Guard Interval</a:t>
            </a:r>
            <a:endParaRPr lang="en-US" sz="1250" dirty="0"/>
          </a:p>
        </p:txBody>
      </p:sp>
      <p:sp>
        <p:nvSpPr>
          <p:cNvPr id="15" name="Shape 13"/>
          <p:cNvSpPr/>
          <p:nvPr/>
        </p:nvSpPr>
        <p:spPr>
          <a:xfrm>
            <a:off x="700888" y="4343400"/>
            <a:ext cx="10789920" cy="0"/>
          </a:xfrm>
          <a:prstGeom prst="line">
            <a:avLst/>
          </a:prstGeom>
          <a:noFill/>
          <a:ln w="12700">
            <a:solidFill>
              <a:srgbClr val="5C7A93"/>
            </a:solidFill>
            <a:prstDash val="solid"/>
          </a:ln>
        </p:spPr>
      </p:sp>
      <p:sp>
        <p:nvSpPr>
          <p:cNvPr id="16" name="Text 14"/>
          <p:cNvSpPr/>
          <p:nvPr/>
        </p:nvSpPr>
        <p:spPr>
          <a:xfrm>
            <a:off x="700888" y="4434840"/>
            <a:ext cx="10789920" cy="365760"/>
          </a:xfrm>
          <a:prstGeom prst="rect">
            <a:avLst/>
          </a:prstGeom>
          <a:noFill/>
          <a:ln/>
        </p:spPr>
        <p:txBody>
          <a:bodyPr wrap="square" lIns="0" tIns="0" rIns="0" bIns="0" rtlCol="0" anchor="ctr"/>
          <a:lstStyle/>
          <a:p>
            <a:pPr marL="0" indent="0" algn="ctr">
              <a:buNone/>
            </a:pPr>
            <a:r>
              <a:rPr lang="en-US" sz="1200" i="1" dirty="0">
                <a:solidFill>
                  <a:srgbClr val="5C7A93"/>
                </a:solidFill>
                <a:latin typeface="Calibri" pitchFamily="34" charset="0"/>
                <a:ea typeface="Calibri" pitchFamily="34" charset="-122"/>
                <a:cs typeface="Calibri" pitchFamily="34" charset="-120"/>
              </a:rPr>
              <a:t>One MC-CDMA Frame</a:t>
            </a:r>
            <a:endParaRPr lang="en-US" sz="1200" dirty="0"/>
          </a:p>
        </p:txBody>
      </p:sp>
      <p:sp>
        <p:nvSpPr>
          <p:cNvPr id="17" name="Text 15"/>
          <p:cNvSpPr/>
          <p:nvPr/>
        </p:nvSpPr>
        <p:spPr>
          <a:xfrm>
            <a:off x="548640" y="4937760"/>
            <a:ext cx="10789920" cy="822960"/>
          </a:xfrm>
          <a:prstGeom prst="rect">
            <a:avLst/>
          </a:prstGeom>
          <a:noFill/>
          <a:ln/>
        </p:spPr>
        <p:txBody>
          <a:bodyPr wrap="square" lIns="0" tIns="0" rIns="0" bIns="0" rtlCol="0" anchor="ctr"/>
          <a:lstStyle/>
          <a:p>
            <a:pPr marL="0" indent="0">
              <a:lnSpc>
                <a:spcPct val="130000"/>
              </a:lnSpc>
              <a:buNone/>
            </a:pPr>
            <a:r>
              <a:rPr lang="en-US" sz="1300" dirty="0">
                <a:solidFill>
                  <a:srgbClr val="13293D"/>
                </a:solidFill>
                <a:latin typeface="Calibri" pitchFamily="34" charset="0"/>
                <a:ea typeface="Calibri" pitchFamily="34" charset="-122"/>
                <a:cs typeface="Calibri" pitchFamily="34" charset="-120"/>
              </a:rPr>
              <a:t>AGC normalizes signal power before Barker-sequence detection achieves coarse synchronization. A training sequence enables channel estimation, the OFDM payload carries user data, and a guard interval absorbs multipath delay spread.</a:t>
            </a:r>
            <a:endParaRPr lang="en-US" sz="1300" dirty="0"/>
          </a:p>
        </p:txBody>
      </p:sp>
      <p:sp>
        <p:nvSpPr>
          <p:cNvPr id="18" name="Text 16"/>
          <p:cNvSpPr/>
          <p:nvPr/>
        </p:nvSpPr>
        <p:spPr>
          <a:xfrm>
            <a:off x="548640" y="6355080"/>
            <a:ext cx="4572000" cy="320040"/>
          </a:xfrm>
          <a:prstGeom prst="rect">
            <a:avLst/>
          </a:prstGeom>
          <a:noFill/>
          <a:ln/>
        </p:spPr>
        <p:txBody>
          <a:bodyPr wrap="square" lIns="0" tIns="0" rIns="0" bIns="0" rtlCol="0" anchor="ctr"/>
          <a:lstStyle/>
          <a:p>
            <a:pPr marL="0" indent="0">
              <a:buNone/>
            </a:pPr>
            <a:r>
              <a:rPr lang="en-US" sz="950" kern="0" spc="150" dirty="0">
                <a:solidFill>
                  <a:srgbClr val="5C7A93"/>
                </a:solidFill>
                <a:latin typeface="Calibri" pitchFamily="34" charset="0"/>
                <a:ea typeface="Calibri" pitchFamily="34" charset="-122"/>
                <a:cs typeface="Calibri" pitchFamily="34" charset="-120"/>
              </a:rPr>
              <a:t>MC-CDMA  •  OFDM SIMULATION</a:t>
            </a:r>
            <a:endParaRPr lang="en-US" sz="950" dirty="0"/>
          </a:p>
        </p:txBody>
      </p:sp>
      <p:sp>
        <p:nvSpPr>
          <p:cNvPr id="19" name="Text 17"/>
          <p:cNvSpPr/>
          <p:nvPr/>
        </p:nvSpPr>
        <p:spPr>
          <a:xfrm>
            <a:off x="11368735" y="6355080"/>
            <a:ext cx="548640" cy="320040"/>
          </a:xfrm>
          <a:prstGeom prst="rect">
            <a:avLst/>
          </a:prstGeom>
          <a:noFill/>
          <a:ln/>
        </p:spPr>
        <p:txBody>
          <a:bodyPr wrap="square" lIns="0" tIns="0" rIns="0" bIns="0" rtlCol="0" anchor="ctr"/>
          <a:lstStyle/>
          <a:p>
            <a:pPr marL="0" indent="0" algn="r">
              <a:buNone/>
            </a:pPr>
            <a:r>
              <a:rPr lang="en-US" sz="1000" dirty="0">
                <a:solidFill>
                  <a:srgbClr val="5C7A93"/>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48640" y="749808"/>
            <a:ext cx="9601200" cy="822960"/>
          </a:xfrm>
          <a:prstGeom prst="rect">
            <a:avLst/>
          </a:prstGeom>
          <a:noFill/>
          <a:ln/>
        </p:spPr>
        <p:txBody>
          <a:bodyPr wrap="square" lIns="0" tIns="0" rIns="0" bIns="0" rtlCol="0" anchor="ctr"/>
          <a:lstStyle/>
          <a:p>
            <a:pPr marL="0" indent="0">
              <a:buNone/>
            </a:pPr>
            <a:r>
              <a:rPr lang="en-US" sz="3200" b="1" dirty="0">
                <a:solidFill>
                  <a:srgbClr val="0A2647"/>
                </a:solidFill>
                <a:latin typeface="Cambria" pitchFamily="34" charset="0"/>
                <a:ea typeface="Cambria" pitchFamily="34" charset="-122"/>
                <a:cs typeface="Cambria" pitchFamily="34" charset="-120"/>
              </a:rPr>
              <a:t>Transmitter Architecture</a:t>
            </a:r>
            <a:endParaRPr lang="en-US" sz="3200" dirty="0"/>
          </a:p>
        </p:txBody>
      </p:sp>
      <p:sp>
        <p:nvSpPr>
          <p:cNvPr id="4" name="Shape 2"/>
          <p:cNvSpPr/>
          <p:nvPr/>
        </p:nvSpPr>
        <p:spPr>
          <a:xfrm>
            <a:off x="632308" y="1828800"/>
            <a:ext cx="3429000" cy="1737360"/>
          </a:xfrm>
          <a:prstGeom prst="roundRect">
            <a:avLst>
              <a:gd name="adj" fmla="val 4211"/>
            </a:avLst>
          </a:prstGeom>
          <a:solidFill>
            <a:srgbClr val="FFFFFF"/>
          </a:solidFill>
          <a:ln/>
          <a:effectLst>
            <a:outerShdw blurRad="101600" dist="38100" dir="2700000" algn="bl" rotWithShape="0">
              <a:srgbClr val="0A2647">
                <a:alpha val="12000"/>
              </a:srgbClr>
            </a:outerShdw>
          </a:effectLst>
        </p:spPr>
      </p:sp>
      <p:sp>
        <p:nvSpPr>
          <p:cNvPr id="5" name="Shape 3"/>
          <p:cNvSpPr/>
          <p:nvPr/>
        </p:nvSpPr>
        <p:spPr>
          <a:xfrm>
            <a:off x="906628" y="2103120"/>
            <a:ext cx="548640" cy="548640"/>
          </a:xfrm>
          <a:prstGeom prst="ellipse">
            <a:avLst/>
          </a:prstGeom>
          <a:solidFill>
            <a:srgbClr val="1C7293"/>
          </a:solidFill>
          <a:ln/>
        </p:spPr>
      </p:sp>
      <p:pic>
        <p:nvPicPr>
          <p:cNvPr id="6" name="Image 0" descr="icons/FaRandom_white.png"/>
          <p:cNvPicPr>
            <a:picLocks noChangeAspect="1"/>
          </p:cNvPicPr>
          <p:nvPr/>
        </p:nvPicPr>
        <p:blipFill>
          <a:blip r:embed="rId3"/>
          <a:stretch>
            <a:fillRect/>
          </a:stretch>
        </p:blipFill>
        <p:spPr>
          <a:xfrm>
            <a:off x="1043788" y="2240280"/>
            <a:ext cx="274320" cy="274320"/>
          </a:xfrm>
          <a:prstGeom prst="rect">
            <a:avLst/>
          </a:prstGeom>
        </p:spPr>
      </p:pic>
      <p:sp>
        <p:nvSpPr>
          <p:cNvPr id="7" name="Text 4"/>
          <p:cNvSpPr/>
          <p:nvPr/>
        </p:nvSpPr>
        <p:spPr>
          <a:xfrm>
            <a:off x="3375508" y="2011680"/>
            <a:ext cx="548640" cy="365760"/>
          </a:xfrm>
          <a:prstGeom prst="rect">
            <a:avLst/>
          </a:prstGeom>
          <a:noFill/>
          <a:ln/>
        </p:spPr>
        <p:txBody>
          <a:bodyPr wrap="square" lIns="0" tIns="0" rIns="0" bIns="0" rtlCol="0" anchor="ctr"/>
          <a:lstStyle/>
          <a:p>
            <a:pPr marL="0" indent="0" algn="r">
              <a:buNone/>
            </a:pPr>
            <a:r>
              <a:rPr lang="en-US" sz="1400" b="1" dirty="0">
                <a:solidFill>
                  <a:srgbClr val="C9D6E3"/>
                </a:solidFill>
                <a:latin typeface="Calibri" pitchFamily="34" charset="0"/>
                <a:ea typeface="Calibri" pitchFamily="34" charset="-122"/>
                <a:cs typeface="Calibri" pitchFamily="34" charset="-120"/>
              </a:rPr>
              <a:t>01</a:t>
            </a:r>
            <a:endParaRPr lang="en-US" sz="1400" dirty="0"/>
          </a:p>
        </p:txBody>
      </p:sp>
      <p:sp>
        <p:nvSpPr>
          <p:cNvPr id="8" name="Text 5"/>
          <p:cNvSpPr/>
          <p:nvPr/>
        </p:nvSpPr>
        <p:spPr>
          <a:xfrm>
            <a:off x="906628" y="2788920"/>
            <a:ext cx="2880360" cy="640080"/>
          </a:xfrm>
          <a:prstGeom prst="rect">
            <a:avLst/>
          </a:prstGeom>
          <a:noFill/>
          <a:ln/>
        </p:spPr>
        <p:txBody>
          <a:bodyPr wrap="square" lIns="0" tIns="0" rIns="0" bIns="0" rtlCol="0" anchor="t"/>
          <a:lstStyle/>
          <a:p>
            <a:pPr marL="0" indent="0">
              <a:buNone/>
            </a:pPr>
            <a:r>
              <a:rPr lang="en-US" sz="1450" b="1" dirty="0">
                <a:solidFill>
                  <a:srgbClr val="0A2647"/>
                </a:solidFill>
                <a:latin typeface="Cambria" pitchFamily="34" charset="0"/>
                <a:ea typeface="Cambria" pitchFamily="34" charset="-122"/>
                <a:cs typeface="Cambria" pitchFamily="34" charset="-120"/>
              </a:rPr>
              <a:t>Random Bit Generation</a:t>
            </a:r>
            <a:endParaRPr lang="en-US" sz="1450" dirty="0"/>
          </a:p>
        </p:txBody>
      </p:sp>
      <p:sp>
        <p:nvSpPr>
          <p:cNvPr id="9" name="Shape 6"/>
          <p:cNvSpPr/>
          <p:nvPr/>
        </p:nvSpPr>
        <p:spPr>
          <a:xfrm>
            <a:off x="4381348" y="1828800"/>
            <a:ext cx="3429000" cy="1737360"/>
          </a:xfrm>
          <a:prstGeom prst="roundRect">
            <a:avLst>
              <a:gd name="adj" fmla="val 4211"/>
            </a:avLst>
          </a:prstGeom>
          <a:solidFill>
            <a:srgbClr val="FFFFFF"/>
          </a:solidFill>
          <a:ln/>
          <a:effectLst>
            <a:outerShdw blurRad="101600" dist="38100" dir="2700000" algn="bl" rotWithShape="0">
              <a:srgbClr val="0A2647">
                <a:alpha val="12000"/>
              </a:srgbClr>
            </a:outerShdw>
          </a:effectLst>
        </p:spPr>
      </p:sp>
      <p:sp>
        <p:nvSpPr>
          <p:cNvPr id="10" name="Shape 7"/>
          <p:cNvSpPr/>
          <p:nvPr/>
        </p:nvSpPr>
        <p:spPr>
          <a:xfrm>
            <a:off x="4655668" y="2103120"/>
            <a:ext cx="548640" cy="548640"/>
          </a:xfrm>
          <a:prstGeom prst="ellipse">
            <a:avLst/>
          </a:prstGeom>
          <a:solidFill>
            <a:srgbClr val="1C7293"/>
          </a:solidFill>
          <a:ln/>
        </p:spPr>
      </p:sp>
      <p:pic>
        <p:nvPicPr>
          <p:cNvPr id="11" name="Image 1" descr="icons/FaCode_white.png"/>
          <p:cNvPicPr>
            <a:picLocks noChangeAspect="1"/>
          </p:cNvPicPr>
          <p:nvPr/>
        </p:nvPicPr>
        <p:blipFill>
          <a:blip r:embed="rId4"/>
          <a:stretch>
            <a:fillRect/>
          </a:stretch>
        </p:blipFill>
        <p:spPr>
          <a:xfrm>
            <a:off x="4792828" y="2240280"/>
            <a:ext cx="274320" cy="274320"/>
          </a:xfrm>
          <a:prstGeom prst="rect">
            <a:avLst/>
          </a:prstGeom>
        </p:spPr>
      </p:pic>
      <p:sp>
        <p:nvSpPr>
          <p:cNvPr id="12" name="Text 8"/>
          <p:cNvSpPr/>
          <p:nvPr/>
        </p:nvSpPr>
        <p:spPr>
          <a:xfrm>
            <a:off x="7124548" y="2011680"/>
            <a:ext cx="548640" cy="365760"/>
          </a:xfrm>
          <a:prstGeom prst="rect">
            <a:avLst/>
          </a:prstGeom>
          <a:noFill/>
          <a:ln/>
        </p:spPr>
        <p:txBody>
          <a:bodyPr wrap="square" lIns="0" tIns="0" rIns="0" bIns="0" rtlCol="0" anchor="ctr"/>
          <a:lstStyle/>
          <a:p>
            <a:pPr marL="0" indent="0" algn="r">
              <a:buNone/>
            </a:pPr>
            <a:r>
              <a:rPr lang="en-US" sz="1400" b="1" dirty="0">
                <a:solidFill>
                  <a:srgbClr val="C9D6E3"/>
                </a:solidFill>
                <a:latin typeface="Calibri" pitchFamily="34" charset="0"/>
                <a:ea typeface="Calibri" pitchFamily="34" charset="-122"/>
                <a:cs typeface="Calibri" pitchFamily="34" charset="-120"/>
              </a:rPr>
              <a:t>02</a:t>
            </a:r>
            <a:endParaRPr lang="en-US" sz="1400" dirty="0"/>
          </a:p>
        </p:txBody>
      </p:sp>
      <p:sp>
        <p:nvSpPr>
          <p:cNvPr id="13" name="Text 9"/>
          <p:cNvSpPr/>
          <p:nvPr/>
        </p:nvSpPr>
        <p:spPr>
          <a:xfrm>
            <a:off x="4655668" y="2788920"/>
            <a:ext cx="2880360" cy="640080"/>
          </a:xfrm>
          <a:prstGeom prst="rect">
            <a:avLst/>
          </a:prstGeom>
          <a:noFill/>
          <a:ln/>
        </p:spPr>
        <p:txBody>
          <a:bodyPr wrap="square" lIns="0" tIns="0" rIns="0" bIns="0" rtlCol="0" anchor="t"/>
          <a:lstStyle/>
          <a:p>
            <a:pPr marL="0" indent="0">
              <a:buNone/>
            </a:pPr>
            <a:r>
              <a:rPr lang="en-US" sz="1450" b="1" dirty="0">
                <a:solidFill>
                  <a:srgbClr val="0A2647"/>
                </a:solidFill>
                <a:latin typeface="Cambria" pitchFamily="34" charset="0"/>
                <a:ea typeface="Cambria" pitchFamily="34" charset="-122"/>
                <a:cs typeface="Cambria" pitchFamily="34" charset="-120"/>
              </a:rPr>
              <a:t>Convolutional Coding</a:t>
            </a:r>
            <a:endParaRPr lang="en-US" sz="1450" dirty="0"/>
          </a:p>
        </p:txBody>
      </p:sp>
      <p:sp>
        <p:nvSpPr>
          <p:cNvPr id="14" name="Shape 10"/>
          <p:cNvSpPr/>
          <p:nvPr/>
        </p:nvSpPr>
        <p:spPr>
          <a:xfrm>
            <a:off x="8130388" y="1828800"/>
            <a:ext cx="3429000" cy="1737360"/>
          </a:xfrm>
          <a:prstGeom prst="roundRect">
            <a:avLst>
              <a:gd name="adj" fmla="val 4211"/>
            </a:avLst>
          </a:prstGeom>
          <a:solidFill>
            <a:srgbClr val="FFFFFF"/>
          </a:solidFill>
          <a:ln/>
          <a:effectLst>
            <a:outerShdw blurRad="101600" dist="38100" dir="2700000" algn="bl" rotWithShape="0">
              <a:srgbClr val="0A2647">
                <a:alpha val="12000"/>
              </a:srgbClr>
            </a:outerShdw>
          </a:effectLst>
        </p:spPr>
      </p:sp>
      <p:sp>
        <p:nvSpPr>
          <p:cNvPr id="15" name="Shape 11"/>
          <p:cNvSpPr/>
          <p:nvPr/>
        </p:nvSpPr>
        <p:spPr>
          <a:xfrm>
            <a:off x="8404708" y="2103120"/>
            <a:ext cx="548640" cy="548640"/>
          </a:xfrm>
          <a:prstGeom prst="ellipse">
            <a:avLst/>
          </a:prstGeom>
          <a:solidFill>
            <a:srgbClr val="1C7293"/>
          </a:solidFill>
          <a:ln/>
        </p:spPr>
      </p:sp>
      <p:pic>
        <p:nvPicPr>
          <p:cNvPr id="16" name="Image 2" descr="icons/FaWaveSquare_white.png"/>
          <p:cNvPicPr>
            <a:picLocks noChangeAspect="1"/>
          </p:cNvPicPr>
          <p:nvPr/>
        </p:nvPicPr>
        <p:blipFill>
          <a:blip r:embed="rId5"/>
          <a:stretch>
            <a:fillRect/>
          </a:stretch>
        </p:blipFill>
        <p:spPr>
          <a:xfrm>
            <a:off x="8541868" y="2240280"/>
            <a:ext cx="274320" cy="274320"/>
          </a:xfrm>
          <a:prstGeom prst="rect">
            <a:avLst/>
          </a:prstGeom>
        </p:spPr>
      </p:pic>
      <p:sp>
        <p:nvSpPr>
          <p:cNvPr id="17" name="Text 12"/>
          <p:cNvSpPr/>
          <p:nvPr/>
        </p:nvSpPr>
        <p:spPr>
          <a:xfrm>
            <a:off x="10873588" y="2011680"/>
            <a:ext cx="548640" cy="365760"/>
          </a:xfrm>
          <a:prstGeom prst="rect">
            <a:avLst/>
          </a:prstGeom>
          <a:noFill/>
          <a:ln/>
        </p:spPr>
        <p:txBody>
          <a:bodyPr wrap="square" lIns="0" tIns="0" rIns="0" bIns="0" rtlCol="0" anchor="ctr"/>
          <a:lstStyle/>
          <a:p>
            <a:pPr marL="0" indent="0" algn="r">
              <a:buNone/>
            </a:pPr>
            <a:r>
              <a:rPr lang="en-US" sz="1400" b="1" dirty="0">
                <a:solidFill>
                  <a:srgbClr val="C9D6E3"/>
                </a:solidFill>
                <a:latin typeface="Calibri" pitchFamily="34" charset="0"/>
                <a:ea typeface="Calibri" pitchFamily="34" charset="-122"/>
                <a:cs typeface="Calibri" pitchFamily="34" charset="-120"/>
              </a:rPr>
              <a:t>03</a:t>
            </a:r>
            <a:endParaRPr lang="en-US" sz="1400" dirty="0"/>
          </a:p>
        </p:txBody>
      </p:sp>
      <p:sp>
        <p:nvSpPr>
          <p:cNvPr id="18" name="Text 13"/>
          <p:cNvSpPr/>
          <p:nvPr/>
        </p:nvSpPr>
        <p:spPr>
          <a:xfrm>
            <a:off x="8404708" y="2788920"/>
            <a:ext cx="2880360" cy="640080"/>
          </a:xfrm>
          <a:prstGeom prst="rect">
            <a:avLst/>
          </a:prstGeom>
          <a:noFill/>
          <a:ln/>
        </p:spPr>
        <p:txBody>
          <a:bodyPr wrap="square" lIns="0" tIns="0" rIns="0" bIns="0" rtlCol="0" anchor="t"/>
          <a:lstStyle/>
          <a:p>
            <a:pPr marL="0" indent="0">
              <a:buNone/>
            </a:pPr>
            <a:r>
              <a:rPr lang="en-US" sz="1450" b="1" dirty="0">
                <a:solidFill>
                  <a:srgbClr val="0A2647"/>
                </a:solidFill>
                <a:latin typeface="Cambria" pitchFamily="34" charset="0"/>
                <a:ea typeface="Cambria" pitchFamily="34" charset="-122"/>
                <a:cs typeface="Cambria" pitchFamily="34" charset="-120"/>
              </a:rPr>
              <a:t>QPSK Modulation</a:t>
            </a:r>
            <a:endParaRPr lang="en-US" sz="1450" dirty="0"/>
          </a:p>
        </p:txBody>
      </p:sp>
      <p:sp>
        <p:nvSpPr>
          <p:cNvPr id="19" name="Shape 14"/>
          <p:cNvSpPr/>
          <p:nvPr/>
        </p:nvSpPr>
        <p:spPr>
          <a:xfrm>
            <a:off x="632308" y="3931920"/>
            <a:ext cx="3429000" cy="1737360"/>
          </a:xfrm>
          <a:prstGeom prst="roundRect">
            <a:avLst>
              <a:gd name="adj" fmla="val 4211"/>
            </a:avLst>
          </a:prstGeom>
          <a:solidFill>
            <a:srgbClr val="FFFFFF"/>
          </a:solidFill>
          <a:ln/>
          <a:effectLst>
            <a:outerShdw blurRad="101600" dist="38100" dir="2700000" algn="bl" rotWithShape="0">
              <a:srgbClr val="0A2647">
                <a:alpha val="12000"/>
              </a:srgbClr>
            </a:outerShdw>
          </a:effectLst>
        </p:spPr>
      </p:sp>
      <p:sp>
        <p:nvSpPr>
          <p:cNvPr id="20" name="Shape 15"/>
          <p:cNvSpPr/>
          <p:nvPr/>
        </p:nvSpPr>
        <p:spPr>
          <a:xfrm>
            <a:off x="906628" y="4206240"/>
            <a:ext cx="548640" cy="548640"/>
          </a:xfrm>
          <a:prstGeom prst="ellipse">
            <a:avLst/>
          </a:prstGeom>
          <a:solidFill>
            <a:srgbClr val="1C7293"/>
          </a:solidFill>
          <a:ln/>
        </p:spPr>
      </p:sp>
      <p:pic>
        <p:nvPicPr>
          <p:cNvPr id="21" name="Image 3" descr="icons/FaProjectDiagram_white.png"/>
          <p:cNvPicPr>
            <a:picLocks noChangeAspect="1"/>
          </p:cNvPicPr>
          <p:nvPr/>
        </p:nvPicPr>
        <p:blipFill>
          <a:blip r:embed="rId6"/>
          <a:stretch>
            <a:fillRect/>
          </a:stretch>
        </p:blipFill>
        <p:spPr>
          <a:xfrm>
            <a:off x="1043788" y="4343400"/>
            <a:ext cx="274320" cy="274320"/>
          </a:xfrm>
          <a:prstGeom prst="rect">
            <a:avLst/>
          </a:prstGeom>
        </p:spPr>
      </p:pic>
      <p:sp>
        <p:nvSpPr>
          <p:cNvPr id="22" name="Text 16"/>
          <p:cNvSpPr/>
          <p:nvPr/>
        </p:nvSpPr>
        <p:spPr>
          <a:xfrm>
            <a:off x="3375508" y="4114800"/>
            <a:ext cx="548640" cy="365760"/>
          </a:xfrm>
          <a:prstGeom prst="rect">
            <a:avLst/>
          </a:prstGeom>
          <a:noFill/>
          <a:ln/>
        </p:spPr>
        <p:txBody>
          <a:bodyPr wrap="square" lIns="0" tIns="0" rIns="0" bIns="0" rtlCol="0" anchor="ctr"/>
          <a:lstStyle/>
          <a:p>
            <a:pPr marL="0" indent="0" algn="r">
              <a:buNone/>
            </a:pPr>
            <a:r>
              <a:rPr lang="en-US" sz="1400" b="1" dirty="0">
                <a:solidFill>
                  <a:srgbClr val="C9D6E3"/>
                </a:solidFill>
                <a:latin typeface="Calibri" pitchFamily="34" charset="0"/>
                <a:ea typeface="Calibri" pitchFamily="34" charset="-122"/>
                <a:cs typeface="Calibri" pitchFamily="34" charset="-120"/>
              </a:rPr>
              <a:t>04</a:t>
            </a:r>
            <a:endParaRPr lang="en-US" sz="1400" dirty="0"/>
          </a:p>
        </p:txBody>
      </p:sp>
      <p:sp>
        <p:nvSpPr>
          <p:cNvPr id="23" name="Text 17"/>
          <p:cNvSpPr/>
          <p:nvPr/>
        </p:nvSpPr>
        <p:spPr>
          <a:xfrm>
            <a:off x="906628" y="4892040"/>
            <a:ext cx="2880360" cy="640080"/>
          </a:xfrm>
          <a:prstGeom prst="rect">
            <a:avLst/>
          </a:prstGeom>
          <a:noFill/>
          <a:ln/>
        </p:spPr>
        <p:txBody>
          <a:bodyPr wrap="square" lIns="0" tIns="0" rIns="0" bIns="0" rtlCol="0" anchor="t"/>
          <a:lstStyle/>
          <a:p>
            <a:pPr marL="0" indent="0">
              <a:buNone/>
            </a:pPr>
            <a:r>
              <a:rPr lang="en-US" sz="1450" b="1" dirty="0">
                <a:solidFill>
                  <a:srgbClr val="0A2647"/>
                </a:solidFill>
                <a:latin typeface="Cambria" pitchFamily="34" charset="0"/>
                <a:ea typeface="Cambria" pitchFamily="34" charset="-122"/>
                <a:cs typeface="Cambria" pitchFamily="34" charset="-120"/>
              </a:rPr>
              <a:t>Walsh Spreading</a:t>
            </a:r>
            <a:endParaRPr lang="en-US" sz="1450" dirty="0"/>
          </a:p>
        </p:txBody>
      </p:sp>
      <p:sp>
        <p:nvSpPr>
          <p:cNvPr id="24" name="Shape 18"/>
          <p:cNvSpPr/>
          <p:nvPr/>
        </p:nvSpPr>
        <p:spPr>
          <a:xfrm>
            <a:off x="4381348" y="3931920"/>
            <a:ext cx="3429000" cy="1737360"/>
          </a:xfrm>
          <a:prstGeom prst="roundRect">
            <a:avLst>
              <a:gd name="adj" fmla="val 4211"/>
            </a:avLst>
          </a:prstGeom>
          <a:solidFill>
            <a:srgbClr val="FFFFFF"/>
          </a:solidFill>
          <a:ln/>
          <a:effectLst>
            <a:outerShdw blurRad="101600" dist="38100" dir="2700000" algn="bl" rotWithShape="0">
              <a:srgbClr val="0A2647">
                <a:alpha val="12000"/>
              </a:srgbClr>
            </a:outerShdw>
          </a:effectLst>
        </p:spPr>
      </p:sp>
      <p:sp>
        <p:nvSpPr>
          <p:cNvPr id="25" name="Shape 19"/>
          <p:cNvSpPr/>
          <p:nvPr/>
        </p:nvSpPr>
        <p:spPr>
          <a:xfrm>
            <a:off x="4655668" y="4206240"/>
            <a:ext cx="548640" cy="548640"/>
          </a:xfrm>
          <a:prstGeom prst="ellipse">
            <a:avLst/>
          </a:prstGeom>
          <a:solidFill>
            <a:srgbClr val="1C7293"/>
          </a:solidFill>
          <a:ln/>
        </p:spPr>
      </p:sp>
      <p:pic>
        <p:nvPicPr>
          <p:cNvPr id="26" name="Image 4" descr="icons/FaLayerGroup_white.png"/>
          <p:cNvPicPr>
            <a:picLocks noChangeAspect="1"/>
          </p:cNvPicPr>
          <p:nvPr/>
        </p:nvPicPr>
        <p:blipFill>
          <a:blip r:embed="rId7"/>
          <a:stretch>
            <a:fillRect/>
          </a:stretch>
        </p:blipFill>
        <p:spPr>
          <a:xfrm>
            <a:off x="4792828" y="4343400"/>
            <a:ext cx="274320" cy="274320"/>
          </a:xfrm>
          <a:prstGeom prst="rect">
            <a:avLst/>
          </a:prstGeom>
        </p:spPr>
      </p:pic>
      <p:sp>
        <p:nvSpPr>
          <p:cNvPr id="27" name="Text 20"/>
          <p:cNvSpPr/>
          <p:nvPr/>
        </p:nvSpPr>
        <p:spPr>
          <a:xfrm>
            <a:off x="7124548" y="4114800"/>
            <a:ext cx="548640" cy="365760"/>
          </a:xfrm>
          <a:prstGeom prst="rect">
            <a:avLst/>
          </a:prstGeom>
          <a:noFill/>
          <a:ln/>
        </p:spPr>
        <p:txBody>
          <a:bodyPr wrap="square" lIns="0" tIns="0" rIns="0" bIns="0" rtlCol="0" anchor="ctr"/>
          <a:lstStyle/>
          <a:p>
            <a:pPr marL="0" indent="0" algn="r">
              <a:buNone/>
            </a:pPr>
            <a:r>
              <a:rPr lang="en-US" sz="1400" b="1" dirty="0">
                <a:solidFill>
                  <a:srgbClr val="C9D6E3"/>
                </a:solidFill>
                <a:latin typeface="Calibri" pitchFamily="34" charset="0"/>
                <a:ea typeface="Calibri" pitchFamily="34" charset="-122"/>
                <a:cs typeface="Calibri" pitchFamily="34" charset="-120"/>
              </a:rPr>
              <a:t>05</a:t>
            </a:r>
            <a:endParaRPr lang="en-US" sz="1400" dirty="0"/>
          </a:p>
        </p:txBody>
      </p:sp>
      <p:sp>
        <p:nvSpPr>
          <p:cNvPr id="28" name="Text 21"/>
          <p:cNvSpPr/>
          <p:nvPr/>
        </p:nvSpPr>
        <p:spPr>
          <a:xfrm>
            <a:off x="4655668" y="4892040"/>
            <a:ext cx="2880360" cy="640080"/>
          </a:xfrm>
          <a:prstGeom prst="rect">
            <a:avLst/>
          </a:prstGeom>
          <a:noFill/>
          <a:ln/>
        </p:spPr>
        <p:txBody>
          <a:bodyPr wrap="square" lIns="0" tIns="0" rIns="0" bIns="0" rtlCol="0" anchor="t"/>
          <a:lstStyle/>
          <a:p>
            <a:pPr marL="0" indent="0">
              <a:buNone/>
            </a:pPr>
            <a:r>
              <a:rPr lang="en-US" sz="1450" b="1" dirty="0">
                <a:solidFill>
                  <a:srgbClr val="0A2647"/>
                </a:solidFill>
                <a:latin typeface="Cambria" pitchFamily="34" charset="0"/>
                <a:ea typeface="Cambria" pitchFamily="34" charset="-122"/>
                <a:cs typeface="Cambria" pitchFamily="34" charset="-120"/>
              </a:rPr>
              <a:t>OFDM Modulation</a:t>
            </a:r>
            <a:endParaRPr lang="en-US" sz="1450" dirty="0"/>
          </a:p>
        </p:txBody>
      </p:sp>
      <p:sp>
        <p:nvSpPr>
          <p:cNvPr id="29" name="Shape 22"/>
          <p:cNvSpPr/>
          <p:nvPr/>
        </p:nvSpPr>
        <p:spPr>
          <a:xfrm>
            <a:off x="8130388" y="3931920"/>
            <a:ext cx="3429000" cy="1737360"/>
          </a:xfrm>
          <a:prstGeom prst="roundRect">
            <a:avLst>
              <a:gd name="adj" fmla="val 4211"/>
            </a:avLst>
          </a:prstGeom>
          <a:solidFill>
            <a:srgbClr val="FFFFFF"/>
          </a:solidFill>
          <a:ln/>
          <a:effectLst>
            <a:outerShdw blurRad="101600" dist="38100" dir="2700000" algn="bl" rotWithShape="0">
              <a:srgbClr val="0A2647">
                <a:alpha val="12000"/>
              </a:srgbClr>
            </a:outerShdw>
          </a:effectLst>
        </p:spPr>
      </p:sp>
      <p:sp>
        <p:nvSpPr>
          <p:cNvPr id="30" name="Shape 23"/>
          <p:cNvSpPr/>
          <p:nvPr/>
        </p:nvSpPr>
        <p:spPr>
          <a:xfrm>
            <a:off x="8404708" y="4206240"/>
            <a:ext cx="548640" cy="548640"/>
          </a:xfrm>
          <a:prstGeom prst="ellipse">
            <a:avLst/>
          </a:prstGeom>
          <a:solidFill>
            <a:srgbClr val="1C7293"/>
          </a:solidFill>
          <a:ln/>
        </p:spPr>
      </p:sp>
      <p:pic>
        <p:nvPicPr>
          <p:cNvPr id="31" name="Image 5" descr="icons/FaSlidersH_white.png"/>
          <p:cNvPicPr>
            <a:picLocks noChangeAspect="1"/>
          </p:cNvPicPr>
          <p:nvPr/>
        </p:nvPicPr>
        <p:blipFill>
          <a:blip r:embed="rId8"/>
          <a:stretch>
            <a:fillRect/>
          </a:stretch>
        </p:blipFill>
        <p:spPr>
          <a:xfrm>
            <a:off x="8541868" y="4343400"/>
            <a:ext cx="274320" cy="274320"/>
          </a:xfrm>
          <a:prstGeom prst="rect">
            <a:avLst/>
          </a:prstGeom>
        </p:spPr>
      </p:pic>
      <p:sp>
        <p:nvSpPr>
          <p:cNvPr id="32" name="Text 24"/>
          <p:cNvSpPr/>
          <p:nvPr/>
        </p:nvSpPr>
        <p:spPr>
          <a:xfrm>
            <a:off x="10873588" y="4114800"/>
            <a:ext cx="548640" cy="365760"/>
          </a:xfrm>
          <a:prstGeom prst="rect">
            <a:avLst/>
          </a:prstGeom>
          <a:noFill/>
          <a:ln/>
        </p:spPr>
        <p:txBody>
          <a:bodyPr wrap="square" lIns="0" tIns="0" rIns="0" bIns="0" rtlCol="0" anchor="ctr"/>
          <a:lstStyle/>
          <a:p>
            <a:pPr marL="0" indent="0" algn="r">
              <a:buNone/>
            </a:pPr>
            <a:r>
              <a:rPr lang="en-US" sz="1400" b="1" dirty="0">
                <a:solidFill>
                  <a:srgbClr val="C9D6E3"/>
                </a:solidFill>
                <a:latin typeface="Calibri" pitchFamily="34" charset="0"/>
                <a:ea typeface="Calibri" pitchFamily="34" charset="-122"/>
                <a:cs typeface="Calibri" pitchFamily="34" charset="-120"/>
              </a:rPr>
              <a:t>06</a:t>
            </a:r>
            <a:endParaRPr lang="en-US" sz="1400" dirty="0"/>
          </a:p>
        </p:txBody>
      </p:sp>
      <p:sp>
        <p:nvSpPr>
          <p:cNvPr id="33" name="Text 25"/>
          <p:cNvSpPr/>
          <p:nvPr/>
        </p:nvSpPr>
        <p:spPr>
          <a:xfrm>
            <a:off x="8404708" y="4892040"/>
            <a:ext cx="2880360" cy="640080"/>
          </a:xfrm>
          <a:prstGeom prst="rect">
            <a:avLst/>
          </a:prstGeom>
          <a:noFill/>
          <a:ln/>
        </p:spPr>
        <p:txBody>
          <a:bodyPr wrap="square" lIns="0" tIns="0" rIns="0" bIns="0" rtlCol="0" anchor="t"/>
          <a:lstStyle/>
          <a:p>
            <a:pPr marL="0" indent="0">
              <a:buNone/>
            </a:pPr>
            <a:r>
              <a:rPr lang="en-US" sz="1450" b="1" dirty="0">
                <a:solidFill>
                  <a:srgbClr val="0A2647"/>
                </a:solidFill>
                <a:latin typeface="Cambria" pitchFamily="34" charset="0"/>
                <a:ea typeface="Cambria" pitchFamily="34" charset="-122"/>
                <a:cs typeface="Cambria" pitchFamily="34" charset="-120"/>
              </a:rPr>
              <a:t>Cyclic Prefix Addition</a:t>
            </a:r>
            <a:endParaRPr lang="en-US" sz="1450" dirty="0"/>
          </a:p>
        </p:txBody>
      </p:sp>
      <p:sp>
        <p:nvSpPr>
          <p:cNvPr id="34" name="Text 26"/>
          <p:cNvSpPr/>
          <p:nvPr/>
        </p:nvSpPr>
        <p:spPr>
          <a:xfrm>
            <a:off x="548640" y="6355080"/>
            <a:ext cx="4572000" cy="320040"/>
          </a:xfrm>
          <a:prstGeom prst="rect">
            <a:avLst/>
          </a:prstGeom>
          <a:noFill/>
          <a:ln/>
        </p:spPr>
        <p:txBody>
          <a:bodyPr wrap="square" lIns="0" tIns="0" rIns="0" bIns="0" rtlCol="0" anchor="ctr"/>
          <a:lstStyle/>
          <a:p>
            <a:pPr marL="0" indent="0">
              <a:buNone/>
            </a:pPr>
            <a:r>
              <a:rPr lang="en-US" sz="950" kern="0" spc="150" dirty="0">
                <a:solidFill>
                  <a:srgbClr val="5C7A93"/>
                </a:solidFill>
                <a:latin typeface="Calibri" pitchFamily="34" charset="0"/>
                <a:ea typeface="Calibri" pitchFamily="34" charset="-122"/>
                <a:cs typeface="Calibri" pitchFamily="34" charset="-120"/>
              </a:rPr>
              <a:t>MC-CDMA  •  OFDM SIMULATION</a:t>
            </a:r>
            <a:endParaRPr lang="en-US" sz="950" dirty="0"/>
          </a:p>
        </p:txBody>
      </p:sp>
      <p:sp>
        <p:nvSpPr>
          <p:cNvPr id="35" name="Text 27"/>
          <p:cNvSpPr/>
          <p:nvPr/>
        </p:nvSpPr>
        <p:spPr>
          <a:xfrm>
            <a:off x="11368735" y="6355080"/>
            <a:ext cx="548640" cy="320040"/>
          </a:xfrm>
          <a:prstGeom prst="rect">
            <a:avLst/>
          </a:prstGeom>
          <a:noFill/>
          <a:ln/>
        </p:spPr>
        <p:txBody>
          <a:bodyPr wrap="square" lIns="0" tIns="0" rIns="0" bIns="0" rtlCol="0" anchor="ctr"/>
          <a:lstStyle/>
          <a:p>
            <a:pPr marL="0" indent="0" algn="r">
              <a:buNone/>
            </a:pPr>
            <a:r>
              <a:rPr lang="en-US" sz="1000" dirty="0">
                <a:solidFill>
                  <a:srgbClr val="5C7A93"/>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48640" y="749808"/>
            <a:ext cx="9601200" cy="822960"/>
          </a:xfrm>
          <a:prstGeom prst="rect">
            <a:avLst/>
          </a:prstGeom>
          <a:noFill/>
          <a:ln/>
        </p:spPr>
        <p:txBody>
          <a:bodyPr wrap="square" lIns="0" tIns="0" rIns="0" bIns="0" rtlCol="0" anchor="ctr"/>
          <a:lstStyle/>
          <a:p>
            <a:pPr marL="0" indent="0">
              <a:buNone/>
            </a:pPr>
            <a:r>
              <a:rPr lang="en-US" sz="3200" b="1" dirty="0">
                <a:solidFill>
                  <a:srgbClr val="0A2647"/>
                </a:solidFill>
                <a:latin typeface="Cambria" pitchFamily="34" charset="0"/>
                <a:ea typeface="Cambria" pitchFamily="34" charset="-122"/>
                <a:cs typeface="Cambria" pitchFamily="34" charset="-120"/>
              </a:rPr>
              <a:t>Receiver Architecture</a:t>
            </a:r>
            <a:endParaRPr lang="en-US" sz="3200" dirty="0"/>
          </a:p>
        </p:txBody>
      </p:sp>
      <p:sp>
        <p:nvSpPr>
          <p:cNvPr id="4" name="Shape 2"/>
          <p:cNvSpPr/>
          <p:nvPr/>
        </p:nvSpPr>
        <p:spPr>
          <a:xfrm>
            <a:off x="632308" y="1828800"/>
            <a:ext cx="3429000" cy="1737360"/>
          </a:xfrm>
          <a:prstGeom prst="roundRect">
            <a:avLst>
              <a:gd name="adj" fmla="val 4211"/>
            </a:avLst>
          </a:prstGeom>
          <a:solidFill>
            <a:srgbClr val="FFFFFF"/>
          </a:solidFill>
          <a:ln/>
          <a:effectLst>
            <a:outerShdw blurRad="101600" dist="38100" dir="2700000" algn="bl" rotWithShape="0">
              <a:srgbClr val="0A2647">
                <a:alpha val="12000"/>
              </a:srgbClr>
            </a:outerShdw>
          </a:effectLst>
        </p:spPr>
      </p:sp>
      <p:sp>
        <p:nvSpPr>
          <p:cNvPr id="5" name="Shape 3"/>
          <p:cNvSpPr/>
          <p:nvPr/>
        </p:nvSpPr>
        <p:spPr>
          <a:xfrm>
            <a:off x="906628" y="2103120"/>
            <a:ext cx="548640" cy="548640"/>
          </a:xfrm>
          <a:prstGeom prst="ellipse">
            <a:avLst/>
          </a:prstGeom>
          <a:solidFill>
            <a:srgbClr val="0A2647"/>
          </a:solidFill>
          <a:ln/>
        </p:spPr>
      </p:sp>
      <p:pic>
        <p:nvPicPr>
          <p:cNvPr id="6" name="Image 0" descr="icons/FaSlidersH_amber.png"/>
          <p:cNvPicPr>
            <a:picLocks noChangeAspect="1"/>
          </p:cNvPicPr>
          <p:nvPr/>
        </p:nvPicPr>
        <p:blipFill>
          <a:blip r:embed="rId3"/>
          <a:stretch>
            <a:fillRect/>
          </a:stretch>
        </p:blipFill>
        <p:spPr>
          <a:xfrm>
            <a:off x="1043788" y="2240280"/>
            <a:ext cx="274320" cy="274320"/>
          </a:xfrm>
          <a:prstGeom prst="rect">
            <a:avLst/>
          </a:prstGeom>
        </p:spPr>
      </p:pic>
      <p:sp>
        <p:nvSpPr>
          <p:cNvPr id="7" name="Text 4"/>
          <p:cNvSpPr/>
          <p:nvPr/>
        </p:nvSpPr>
        <p:spPr>
          <a:xfrm>
            <a:off x="3375508" y="2011680"/>
            <a:ext cx="548640" cy="365760"/>
          </a:xfrm>
          <a:prstGeom prst="rect">
            <a:avLst/>
          </a:prstGeom>
          <a:noFill/>
          <a:ln/>
        </p:spPr>
        <p:txBody>
          <a:bodyPr wrap="square" lIns="0" tIns="0" rIns="0" bIns="0" rtlCol="0" anchor="ctr"/>
          <a:lstStyle/>
          <a:p>
            <a:pPr marL="0" indent="0" algn="r">
              <a:buNone/>
            </a:pPr>
            <a:r>
              <a:rPr lang="en-US" sz="1400" b="1" dirty="0">
                <a:solidFill>
                  <a:srgbClr val="C9D6E3"/>
                </a:solidFill>
                <a:latin typeface="Calibri" pitchFamily="34" charset="0"/>
                <a:ea typeface="Calibri" pitchFamily="34" charset="-122"/>
                <a:cs typeface="Calibri" pitchFamily="34" charset="-120"/>
              </a:rPr>
              <a:t>01</a:t>
            </a:r>
            <a:endParaRPr lang="en-US" sz="1400" dirty="0"/>
          </a:p>
        </p:txBody>
      </p:sp>
      <p:sp>
        <p:nvSpPr>
          <p:cNvPr id="8" name="Text 5"/>
          <p:cNvSpPr/>
          <p:nvPr/>
        </p:nvSpPr>
        <p:spPr>
          <a:xfrm>
            <a:off x="906628" y="2788920"/>
            <a:ext cx="2880360" cy="640080"/>
          </a:xfrm>
          <a:prstGeom prst="rect">
            <a:avLst/>
          </a:prstGeom>
          <a:noFill/>
          <a:ln/>
        </p:spPr>
        <p:txBody>
          <a:bodyPr wrap="square" lIns="0" tIns="0" rIns="0" bIns="0" rtlCol="0" anchor="t"/>
          <a:lstStyle/>
          <a:p>
            <a:pPr marL="0" indent="0">
              <a:buNone/>
            </a:pPr>
            <a:r>
              <a:rPr lang="en-US" sz="1450" b="1" dirty="0">
                <a:solidFill>
                  <a:srgbClr val="0A2647"/>
                </a:solidFill>
                <a:latin typeface="Cambria" pitchFamily="34" charset="0"/>
                <a:ea typeface="Cambria" pitchFamily="34" charset="-122"/>
                <a:cs typeface="Cambria" pitchFamily="34" charset="-120"/>
              </a:rPr>
              <a:t>AGC</a:t>
            </a:r>
            <a:endParaRPr lang="en-US" sz="1450" dirty="0"/>
          </a:p>
        </p:txBody>
      </p:sp>
      <p:sp>
        <p:nvSpPr>
          <p:cNvPr id="9" name="Shape 6"/>
          <p:cNvSpPr/>
          <p:nvPr/>
        </p:nvSpPr>
        <p:spPr>
          <a:xfrm>
            <a:off x="4381348" y="1828800"/>
            <a:ext cx="3429000" cy="1737360"/>
          </a:xfrm>
          <a:prstGeom prst="roundRect">
            <a:avLst>
              <a:gd name="adj" fmla="val 4211"/>
            </a:avLst>
          </a:prstGeom>
          <a:solidFill>
            <a:srgbClr val="FFFFFF"/>
          </a:solidFill>
          <a:ln/>
          <a:effectLst>
            <a:outerShdw blurRad="101600" dist="38100" dir="2700000" algn="bl" rotWithShape="0">
              <a:srgbClr val="0A2647">
                <a:alpha val="12000"/>
              </a:srgbClr>
            </a:outerShdw>
          </a:effectLst>
        </p:spPr>
      </p:sp>
      <p:sp>
        <p:nvSpPr>
          <p:cNvPr id="10" name="Shape 7"/>
          <p:cNvSpPr/>
          <p:nvPr/>
        </p:nvSpPr>
        <p:spPr>
          <a:xfrm>
            <a:off x="4655668" y="2103120"/>
            <a:ext cx="548640" cy="548640"/>
          </a:xfrm>
          <a:prstGeom prst="ellipse">
            <a:avLst/>
          </a:prstGeom>
          <a:solidFill>
            <a:srgbClr val="0A2647"/>
          </a:solidFill>
          <a:ln/>
        </p:spPr>
      </p:sp>
      <p:pic>
        <p:nvPicPr>
          <p:cNvPr id="11" name="Image 1" descr="icons/FaSync_amber.png"/>
          <p:cNvPicPr>
            <a:picLocks noChangeAspect="1"/>
          </p:cNvPicPr>
          <p:nvPr/>
        </p:nvPicPr>
        <p:blipFill>
          <a:blip r:embed="rId4"/>
          <a:stretch>
            <a:fillRect/>
          </a:stretch>
        </p:blipFill>
        <p:spPr>
          <a:xfrm>
            <a:off x="4792828" y="2240280"/>
            <a:ext cx="274320" cy="274320"/>
          </a:xfrm>
          <a:prstGeom prst="rect">
            <a:avLst/>
          </a:prstGeom>
        </p:spPr>
      </p:pic>
      <p:sp>
        <p:nvSpPr>
          <p:cNvPr id="12" name="Text 8"/>
          <p:cNvSpPr/>
          <p:nvPr/>
        </p:nvSpPr>
        <p:spPr>
          <a:xfrm>
            <a:off x="7124548" y="2011680"/>
            <a:ext cx="548640" cy="365760"/>
          </a:xfrm>
          <a:prstGeom prst="rect">
            <a:avLst/>
          </a:prstGeom>
          <a:noFill/>
          <a:ln/>
        </p:spPr>
        <p:txBody>
          <a:bodyPr wrap="square" lIns="0" tIns="0" rIns="0" bIns="0" rtlCol="0" anchor="ctr"/>
          <a:lstStyle/>
          <a:p>
            <a:pPr marL="0" indent="0" algn="r">
              <a:buNone/>
            </a:pPr>
            <a:r>
              <a:rPr lang="en-US" sz="1400" b="1" dirty="0">
                <a:solidFill>
                  <a:srgbClr val="C9D6E3"/>
                </a:solidFill>
                <a:latin typeface="Calibri" pitchFamily="34" charset="0"/>
                <a:ea typeface="Calibri" pitchFamily="34" charset="-122"/>
                <a:cs typeface="Calibri" pitchFamily="34" charset="-120"/>
              </a:rPr>
              <a:t>02</a:t>
            </a:r>
            <a:endParaRPr lang="en-US" sz="1400" dirty="0"/>
          </a:p>
        </p:txBody>
      </p:sp>
      <p:sp>
        <p:nvSpPr>
          <p:cNvPr id="13" name="Text 9"/>
          <p:cNvSpPr/>
          <p:nvPr/>
        </p:nvSpPr>
        <p:spPr>
          <a:xfrm>
            <a:off x="4655668" y="2788920"/>
            <a:ext cx="2880360" cy="640080"/>
          </a:xfrm>
          <a:prstGeom prst="rect">
            <a:avLst/>
          </a:prstGeom>
          <a:noFill/>
          <a:ln/>
        </p:spPr>
        <p:txBody>
          <a:bodyPr wrap="square" lIns="0" tIns="0" rIns="0" bIns="0" rtlCol="0" anchor="t"/>
          <a:lstStyle/>
          <a:p>
            <a:pPr marL="0" indent="0">
              <a:buNone/>
            </a:pPr>
            <a:r>
              <a:rPr lang="en-US" sz="1450" b="1" dirty="0">
                <a:solidFill>
                  <a:srgbClr val="0A2647"/>
                </a:solidFill>
                <a:latin typeface="Cambria" pitchFamily="34" charset="0"/>
                <a:ea typeface="Cambria" pitchFamily="34" charset="-122"/>
                <a:cs typeface="Cambria" pitchFamily="34" charset="-120"/>
              </a:rPr>
              <a:t>Synchronization</a:t>
            </a:r>
            <a:endParaRPr lang="en-US" sz="1450" dirty="0"/>
          </a:p>
        </p:txBody>
      </p:sp>
      <p:sp>
        <p:nvSpPr>
          <p:cNvPr id="14" name="Shape 10"/>
          <p:cNvSpPr/>
          <p:nvPr/>
        </p:nvSpPr>
        <p:spPr>
          <a:xfrm>
            <a:off x="8130388" y="1828800"/>
            <a:ext cx="3429000" cy="1737360"/>
          </a:xfrm>
          <a:prstGeom prst="roundRect">
            <a:avLst>
              <a:gd name="adj" fmla="val 4211"/>
            </a:avLst>
          </a:prstGeom>
          <a:solidFill>
            <a:srgbClr val="FFFFFF"/>
          </a:solidFill>
          <a:ln/>
          <a:effectLst>
            <a:outerShdw blurRad="101600" dist="38100" dir="2700000" algn="bl" rotWithShape="0">
              <a:srgbClr val="0A2647">
                <a:alpha val="12000"/>
              </a:srgbClr>
            </a:outerShdw>
          </a:effectLst>
        </p:spPr>
      </p:sp>
      <p:sp>
        <p:nvSpPr>
          <p:cNvPr id="15" name="Shape 11"/>
          <p:cNvSpPr/>
          <p:nvPr/>
        </p:nvSpPr>
        <p:spPr>
          <a:xfrm>
            <a:off x="8404708" y="2103120"/>
            <a:ext cx="548640" cy="548640"/>
          </a:xfrm>
          <a:prstGeom prst="ellipse">
            <a:avLst/>
          </a:prstGeom>
          <a:solidFill>
            <a:srgbClr val="0A2647"/>
          </a:solidFill>
          <a:ln/>
        </p:spPr>
      </p:sp>
      <p:pic>
        <p:nvPicPr>
          <p:cNvPr id="16" name="Image 2" descr="icons/FaChartLine_amber.png"/>
          <p:cNvPicPr>
            <a:picLocks noChangeAspect="1"/>
          </p:cNvPicPr>
          <p:nvPr/>
        </p:nvPicPr>
        <p:blipFill>
          <a:blip r:embed="rId5"/>
          <a:stretch>
            <a:fillRect/>
          </a:stretch>
        </p:blipFill>
        <p:spPr>
          <a:xfrm>
            <a:off x="8541868" y="2240280"/>
            <a:ext cx="274320" cy="274320"/>
          </a:xfrm>
          <a:prstGeom prst="rect">
            <a:avLst/>
          </a:prstGeom>
        </p:spPr>
      </p:pic>
      <p:sp>
        <p:nvSpPr>
          <p:cNvPr id="17" name="Text 12"/>
          <p:cNvSpPr/>
          <p:nvPr/>
        </p:nvSpPr>
        <p:spPr>
          <a:xfrm>
            <a:off x="10873588" y="2011680"/>
            <a:ext cx="548640" cy="365760"/>
          </a:xfrm>
          <a:prstGeom prst="rect">
            <a:avLst/>
          </a:prstGeom>
          <a:noFill/>
          <a:ln/>
        </p:spPr>
        <p:txBody>
          <a:bodyPr wrap="square" lIns="0" tIns="0" rIns="0" bIns="0" rtlCol="0" anchor="ctr"/>
          <a:lstStyle/>
          <a:p>
            <a:pPr marL="0" indent="0" algn="r">
              <a:buNone/>
            </a:pPr>
            <a:r>
              <a:rPr lang="en-US" sz="1400" b="1" dirty="0">
                <a:solidFill>
                  <a:srgbClr val="C9D6E3"/>
                </a:solidFill>
                <a:latin typeface="Calibri" pitchFamily="34" charset="0"/>
                <a:ea typeface="Calibri" pitchFamily="34" charset="-122"/>
                <a:cs typeface="Calibri" pitchFamily="34" charset="-120"/>
              </a:rPr>
              <a:t>03</a:t>
            </a:r>
            <a:endParaRPr lang="en-US" sz="1400" dirty="0"/>
          </a:p>
        </p:txBody>
      </p:sp>
      <p:sp>
        <p:nvSpPr>
          <p:cNvPr id="18" name="Text 13"/>
          <p:cNvSpPr/>
          <p:nvPr/>
        </p:nvSpPr>
        <p:spPr>
          <a:xfrm>
            <a:off x="8404708" y="2788920"/>
            <a:ext cx="2880360" cy="640080"/>
          </a:xfrm>
          <a:prstGeom prst="rect">
            <a:avLst/>
          </a:prstGeom>
          <a:noFill/>
          <a:ln/>
        </p:spPr>
        <p:txBody>
          <a:bodyPr wrap="square" lIns="0" tIns="0" rIns="0" bIns="0" rtlCol="0" anchor="t"/>
          <a:lstStyle/>
          <a:p>
            <a:pPr marL="0" indent="0">
              <a:buNone/>
            </a:pPr>
            <a:r>
              <a:rPr lang="en-US" sz="1450" b="1" dirty="0">
                <a:solidFill>
                  <a:srgbClr val="0A2647"/>
                </a:solidFill>
                <a:latin typeface="Cambria" pitchFamily="34" charset="0"/>
                <a:ea typeface="Cambria" pitchFamily="34" charset="-122"/>
                <a:cs typeface="Cambria" pitchFamily="34" charset="-120"/>
              </a:rPr>
              <a:t>MMSE Channel Estimation</a:t>
            </a:r>
            <a:endParaRPr lang="en-US" sz="1450" dirty="0"/>
          </a:p>
        </p:txBody>
      </p:sp>
      <p:sp>
        <p:nvSpPr>
          <p:cNvPr id="19" name="Shape 14"/>
          <p:cNvSpPr/>
          <p:nvPr/>
        </p:nvSpPr>
        <p:spPr>
          <a:xfrm>
            <a:off x="632308" y="3931920"/>
            <a:ext cx="3429000" cy="1737360"/>
          </a:xfrm>
          <a:prstGeom prst="roundRect">
            <a:avLst>
              <a:gd name="adj" fmla="val 4211"/>
            </a:avLst>
          </a:prstGeom>
          <a:solidFill>
            <a:srgbClr val="FFFFFF"/>
          </a:solidFill>
          <a:ln/>
          <a:effectLst>
            <a:outerShdw blurRad="101600" dist="38100" dir="2700000" algn="bl" rotWithShape="0">
              <a:srgbClr val="0A2647">
                <a:alpha val="12000"/>
              </a:srgbClr>
            </a:outerShdw>
          </a:effectLst>
        </p:spPr>
      </p:sp>
      <p:sp>
        <p:nvSpPr>
          <p:cNvPr id="20" name="Shape 15"/>
          <p:cNvSpPr/>
          <p:nvPr/>
        </p:nvSpPr>
        <p:spPr>
          <a:xfrm>
            <a:off x="906628" y="4206240"/>
            <a:ext cx="548640" cy="548640"/>
          </a:xfrm>
          <a:prstGeom prst="ellipse">
            <a:avLst/>
          </a:prstGeom>
          <a:solidFill>
            <a:srgbClr val="0A2647"/>
          </a:solidFill>
          <a:ln/>
        </p:spPr>
      </p:sp>
      <p:pic>
        <p:nvPicPr>
          <p:cNvPr id="21" name="Image 3" descr="icons/FaExchangeAlt_amber.png"/>
          <p:cNvPicPr>
            <a:picLocks noChangeAspect="1"/>
          </p:cNvPicPr>
          <p:nvPr/>
        </p:nvPicPr>
        <p:blipFill>
          <a:blip r:embed="rId6"/>
          <a:stretch>
            <a:fillRect/>
          </a:stretch>
        </p:blipFill>
        <p:spPr>
          <a:xfrm>
            <a:off x="1043788" y="4343400"/>
            <a:ext cx="274320" cy="274320"/>
          </a:xfrm>
          <a:prstGeom prst="rect">
            <a:avLst/>
          </a:prstGeom>
        </p:spPr>
      </p:pic>
      <p:sp>
        <p:nvSpPr>
          <p:cNvPr id="22" name="Text 16"/>
          <p:cNvSpPr/>
          <p:nvPr/>
        </p:nvSpPr>
        <p:spPr>
          <a:xfrm>
            <a:off x="3375508" y="4114800"/>
            <a:ext cx="548640" cy="365760"/>
          </a:xfrm>
          <a:prstGeom prst="rect">
            <a:avLst/>
          </a:prstGeom>
          <a:noFill/>
          <a:ln/>
        </p:spPr>
        <p:txBody>
          <a:bodyPr wrap="square" lIns="0" tIns="0" rIns="0" bIns="0" rtlCol="0" anchor="ctr"/>
          <a:lstStyle/>
          <a:p>
            <a:pPr marL="0" indent="0" algn="r">
              <a:buNone/>
            </a:pPr>
            <a:r>
              <a:rPr lang="en-US" sz="1400" b="1" dirty="0">
                <a:solidFill>
                  <a:srgbClr val="C9D6E3"/>
                </a:solidFill>
                <a:latin typeface="Calibri" pitchFamily="34" charset="0"/>
                <a:ea typeface="Calibri" pitchFamily="34" charset="-122"/>
                <a:cs typeface="Calibri" pitchFamily="34" charset="-120"/>
              </a:rPr>
              <a:t>04</a:t>
            </a:r>
            <a:endParaRPr lang="en-US" sz="1400" dirty="0"/>
          </a:p>
        </p:txBody>
      </p:sp>
      <p:sp>
        <p:nvSpPr>
          <p:cNvPr id="23" name="Text 17"/>
          <p:cNvSpPr/>
          <p:nvPr/>
        </p:nvSpPr>
        <p:spPr>
          <a:xfrm>
            <a:off x="906628" y="4892040"/>
            <a:ext cx="2880360" cy="640080"/>
          </a:xfrm>
          <a:prstGeom prst="rect">
            <a:avLst/>
          </a:prstGeom>
          <a:noFill/>
          <a:ln/>
        </p:spPr>
        <p:txBody>
          <a:bodyPr wrap="square" lIns="0" tIns="0" rIns="0" bIns="0" rtlCol="0" anchor="t"/>
          <a:lstStyle/>
          <a:p>
            <a:pPr marL="0" indent="0">
              <a:buNone/>
            </a:pPr>
            <a:r>
              <a:rPr lang="en-US" sz="1450" b="1" dirty="0">
                <a:solidFill>
                  <a:srgbClr val="0A2647"/>
                </a:solidFill>
                <a:latin typeface="Cambria" pitchFamily="34" charset="0"/>
                <a:ea typeface="Cambria" pitchFamily="34" charset="-122"/>
                <a:cs typeface="Cambria" pitchFamily="34" charset="-120"/>
              </a:rPr>
              <a:t>FFT</a:t>
            </a:r>
            <a:endParaRPr lang="en-US" sz="1450" dirty="0"/>
          </a:p>
        </p:txBody>
      </p:sp>
      <p:sp>
        <p:nvSpPr>
          <p:cNvPr id="24" name="Shape 18"/>
          <p:cNvSpPr/>
          <p:nvPr/>
        </p:nvSpPr>
        <p:spPr>
          <a:xfrm>
            <a:off x="4381348" y="3931920"/>
            <a:ext cx="3429000" cy="1737360"/>
          </a:xfrm>
          <a:prstGeom prst="roundRect">
            <a:avLst>
              <a:gd name="adj" fmla="val 4211"/>
            </a:avLst>
          </a:prstGeom>
          <a:solidFill>
            <a:srgbClr val="FFFFFF"/>
          </a:solidFill>
          <a:ln/>
          <a:effectLst>
            <a:outerShdw blurRad="101600" dist="38100" dir="2700000" algn="bl" rotWithShape="0">
              <a:srgbClr val="0A2647">
                <a:alpha val="12000"/>
              </a:srgbClr>
            </a:outerShdw>
          </a:effectLst>
        </p:spPr>
      </p:sp>
      <p:sp>
        <p:nvSpPr>
          <p:cNvPr id="25" name="Shape 19"/>
          <p:cNvSpPr/>
          <p:nvPr/>
        </p:nvSpPr>
        <p:spPr>
          <a:xfrm>
            <a:off x="4655668" y="4206240"/>
            <a:ext cx="548640" cy="548640"/>
          </a:xfrm>
          <a:prstGeom prst="ellipse">
            <a:avLst/>
          </a:prstGeom>
          <a:solidFill>
            <a:srgbClr val="0A2647"/>
          </a:solidFill>
          <a:ln/>
        </p:spPr>
      </p:sp>
      <p:pic>
        <p:nvPicPr>
          <p:cNvPr id="26" name="Image 4" descr="icons/FaProjectDiagram_amber.png"/>
          <p:cNvPicPr>
            <a:picLocks noChangeAspect="1"/>
          </p:cNvPicPr>
          <p:nvPr/>
        </p:nvPicPr>
        <p:blipFill>
          <a:blip r:embed="rId7"/>
          <a:stretch>
            <a:fillRect/>
          </a:stretch>
        </p:blipFill>
        <p:spPr>
          <a:xfrm>
            <a:off x="4792828" y="4343400"/>
            <a:ext cx="274320" cy="274320"/>
          </a:xfrm>
          <a:prstGeom prst="rect">
            <a:avLst/>
          </a:prstGeom>
        </p:spPr>
      </p:pic>
      <p:sp>
        <p:nvSpPr>
          <p:cNvPr id="27" name="Text 20"/>
          <p:cNvSpPr/>
          <p:nvPr/>
        </p:nvSpPr>
        <p:spPr>
          <a:xfrm>
            <a:off x="7124548" y="4114800"/>
            <a:ext cx="548640" cy="365760"/>
          </a:xfrm>
          <a:prstGeom prst="rect">
            <a:avLst/>
          </a:prstGeom>
          <a:noFill/>
          <a:ln/>
        </p:spPr>
        <p:txBody>
          <a:bodyPr wrap="square" lIns="0" tIns="0" rIns="0" bIns="0" rtlCol="0" anchor="ctr"/>
          <a:lstStyle/>
          <a:p>
            <a:pPr marL="0" indent="0" algn="r">
              <a:buNone/>
            </a:pPr>
            <a:r>
              <a:rPr lang="en-US" sz="1400" b="1" dirty="0">
                <a:solidFill>
                  <a:srgbClr val="C9D6E3"/>
                </a:solidFill>
                <a:latin typeface="Calibri" pitchFamily="34" charset="0"/>
                <a:ea typeface="Calibri" pitchFamily="34" charset="-122"/>
                <a:cs typeface="Calibri" pitchFamily="34" charset="-120"/>
              </a:rPr>
              <a:t>05</a:t>
            </a:r>
            <a:endParaRPr lang="en-US" sz="1400" dirty="0"/>
          </a:p>
        </p:txBody>
      </p:sp>
      <p:sp>
        <p:nvSpPr>
          <p:cNvPr id="28" name="Text 21"/>
          <p:cNvSpPr/>
          <p:nvPr/>
        </p:nvSpPr>
        <p:spPr>
          <a:xfrm>
            <a:off x="4655668" y="4892040"/>
            <a:ext cx="2880360" cy="640080"/>
          </a:xfrm>
          <a:prstGeom prst="rect">
            <a:avLst/>
          </a:prstGeom>
          <a:noFill/>
          <a:ln/>
        </p:spPr>
        <p:txBody>
          <a:bodyPr wrap="square" lIns="0" tIns="0" rIns="0" bIns="0" rtlCol="0" anchor="t"/>
          <a:lstStyle/>
          <a:p>
            <a:pPr marL="0" indent="0">
              <a:buNone/>
            </a:pPr>
            <a:r>
              <a:rPr lang="en-US" sz="1450" b="1" dirty="0">
                <a:solidFill>
                  <a:srgbClr val="0A2647"/>
                </a:solidFill>
                <a:latin typeface="Cambria" pitchFamily="34" charset="0"/>
                <a:ea typeface="Cambria" pitchFamily="34" charset="-122"/>
                <a:cs typeface="Cambria" pitchFamily="34" charset="-120"/>
              </a:rPr>
              <a:t>Despreading</a:t>
            </a:r>
            <a:endParaRPr lang="en-US" sz="1450" dirty="0"/>
          </a:p>
        </p:txBody>
      </p:sp>
      <p:sp>
        <p:nvSpPr>
          <p:cNvPr id="29" name="Shape 22"/>
          <p:cNvSpPr/>
          <p:nvPr/>
        </p:nvSpPr>
        <p:spPr>
          <a:xfrm>
            <a:off x="8130388" y="3931920"/>
            <a:ext cx="3429000" cy="1737360"/>
          </a:xfrm>
          <a:prstGeom prst="roundRect">
            <a:avLst>
              <a:gd name="adj" fmla="val 4211"/>
            </a:avLst>
          </a:prstGeom>
          <a:solidFill>
            <a:srgbClr val="FFFFFF"/>
          </a:solidFill>
          <a:ln/>
          <a:effectLst>
            <a:outerShdw blurRad="101600" dist="38100" dir="2700000" algn="bl" rotWithShape="0">
              <a:srgbClr val="0A2647">
                <a:alpha val="12000"/>
              </a:srgbClr>
            </a:outerShdw>
          </a:effectLst>
        </p:spPr>
      </p:sp>
      <p:sp>
        <p:nvSpPr>
          <p:cNvPr id="30" name="Shape 23"/>
          <p:cNvSpPr/>
          <p:nvPr/>
        </p:nvSpPr>
        <p:spPr>
          <a:xfrm>
            <a:off x="8404708" y="4206240"/>
            <a:ext cx="548640" cy="548640"/>
          </a:xfrm>
          <a:prstGeom prst="ellipse">
            <a:avLst/>
          </a:prstGeom>
          <a:solidFill>
            <a:srgbClr val="0A2647"/>
          </a:solidFill>
          <a:ln/>
        </p:spPr>
      </p:sp>
      <p:pic>
        <p:nvPicPr>
          <p:cNvPr id="31" name="Image 5" descr="icons/FaFilter_amber.png"/>
          <p:cNvPicPr>
            <a:picLocks noChangeAspect="1"/>
          </p:cNvPicPr>
          <p:nvPr/>
        </p:nvPicPr>
        <p:blipFill>
          <a:blip r:embed="rId8"/>
          <a:stretch>
            <a:fillRect/>
          </a:stretch>
        </p:blipFill>
        <p:spPr>
          <a:xfrm>
            <a:off x="8541868" y="4343400"/>
            <a:ext cx="274320" cy="274320"/>
          </a:xfrm>
          <a:prstGeom prst="rect">
            <a:avLst/>
          </a:prstGeom>
        </p:spPr>
      </p:pic>
      <p:sp>
        <p:nvSpPr>
          <p:cNvPr id="32" name="Text 24"/>
          <p:cNvSpPr/>
          <p:nvPr/>
        </p:nvSpPr>
        <p:spPr>
          <a:xfrm>
            <a:off x="10873588" y="4114800"/>
            <a:ext cx="548640" cy="365760"/>
          </a:xfrm>
          <a:prstGeom prst="rect">
            <a:avLst/>
          </a:prstGeom>
          <a:noFill/>
          <a:ln/>
        </p:spPr>
        <p:txBody>
          <a:bodyPr wrap="square" lIns="0" tIns="0" rIns="0" bIns="0" rtlCol="0" anchor="ctr"/>
          <a:lstStyle/>
          <a:p>
            <a:pPr marL="0" indent="0" algn="r">
              <a:buNone/>
            </a:pPr>
            <a:r>
              <a:rPr lang="en-US" sz="1400" b="1" dirty="0">
                <a:solidFill>
                  <a:srgbClr val="C9D6E3"/>
                </a:solidFill>
                <a:latin typeface="Calibri" pitchFamily="34" charset="0"/>
                <a:ea typeface="Calibri" pitchFamily="34" charset="-122"/>
                <a:cs typeface="Calibri" pitchFamily="34" charset="-120"/>
              </a:rPr>
              <a:t>06</a:t>
            </a:r>
            <a:endParaRPr lang="en-US" sz="1400" dirty="0"/>
          </a:p>
        </p:txBody>
      </p:sp>
      <p:sp>
        <p:nvSpPr>
          <p:cNvPr id="33" name="Text 25"/>
          <p:cNvSpPr/>
          <p:nvPr/>
        </p:nvSpPr>
        <p:spPr>
          <a:xfrm>
            <a:off x="8404708" y="4892040"/>
            <a:ext cx="2880360" cy="640080"/>
          </a:xfrm>
          <a:prstGeom prst="rect">
            <a:avLst/>
          </a:prstGeom>
          <a:noFill/>
          <a:ln/>
        </p:spPr>
        <p:txBody>
          <a:bodyPr wrap="square" lIns="0" tIns="0" rIns="0" bIns="0" rtlCol="0" anchor="t"/>
          <a:lstStyle/>
          <a:p>
            <a:pPr marL="0" indent="0">
              <a:buNone/>
            </a:pPr>
            <a:r>
              <a:rPr lang="en-US" sz="1450" b="1" dirty="0">
                <a:solidFill>
                  <a:srgbClr val="0A2647"/>
                </a:solidFill>
                <a:latin typeface="Cambria" pitchFamily="34" charset="0"/>
                <a:ea typeface="Cambria" pitchFamily="34" charset="-122"/>
                <a:cs typeface="Cambria" pitchFamily="34" charset="-120"/>
              </a:rPr>
              <a:t>Viterbi Decoding</a:t>
            </a:r>
            <a:endParaRPr lang="en-US" sz="1450" dirty="0"/>
          </a:p>
        </p:txBody>
      </p:sp>
      <p:sp>
        <p:nvSpPr>
          <p:cNvPr id="34" name="Text 26"/>
          <p:cNvSpPr/>
          <p:nvPr/>
        </p:nvSpPr>
        <p:spPr>
          <a:xfrm>
            <a:off x="548640" y="6355080"/>
            <a:ext cx="4572000" cy="320040"/>
          </a:xfrm>
          <a:prstGeom prst="rect">
            <a:avLst/>
          </a:prstGeom>
          <a:noFill/>
          <a:ln/>
        </p:spPr>
        <p:txBody>
          <a:bodyPr wrap="square" lIns="0" tIns="0" rIns="0" bIns="0" rtlCol="0" anchor="ctr"/>
          <a:lstStyle/>
          <a:p>
            <a:pPr marL="0" indent="0">
              <a:buNone/>
            </a:pPr>
            <a:r>
              <a:rPr lang="en-US" sz="950" kern="0" spc="150" dirty="0">
                <a:solidFill>
                  <a:srgbClr val="5C7A93"/>
                </a:solidFill>
                <a:latin typeface="Calibri" pitchFamily="34" charset="0"/>
                <a:ea typeface="Calibri" pitchFamily="34" charset="-122"/>
                <a:cs typeface="Calibri" pitchFamily="34" charset="-120"/>
              </a:rPr>
              <a:t>MC-CDMA  •  OFDM SIMULATION</a:t>
            </a:r>
            <a:endParaRPr lang="en-US" sz="950" dirty="0"/>
          </a:p>
        </p:txBody>
      </p:sp>
      <p:sp>
        <p:nvSpPr>
          <p:cNvPr id="35" name="Text 27"/>
          <p:cNvSpPr/>
          <p:nvPr/>
        </p:nvSpPr>
        <p:spPr>
          <a:xfrm>
            <a:off x="11368735" y="6355080"/>
            <a:ext cx="548640" cy="320040"/>
          </a:xfrm>
          <a:prstGeom prst="rect">
            <a:avLst/>
          </a:prstGeom>
          <a:noFill/>
          <a:ln/>
        </p:spPr>
        <p:txBody>
          <a:bodyPr wrap="square" lIns="0" tIns="0" rIns="0" bIns="0" rtlCol="0" anchor="ctr"/>
          <a:lstStyle/>
          <a:p>
            <a:pPr marL="0" indent="0" algn="r">
              <a:buNone/>
            </a:pPr>
            <a:r>
              <a:rPr lang="en-US" sz="1000" dirty="0">
                <a:solidFill>
                  <a:srgbClr val="5C7A93"/>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647"/>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2A341"/>
                </a:solidFill>
                <a:latin typeface="Calibri" pitchFamily="34" charset="0"/>
                <a:ea typeface="Calibri" pitchFamily="34" charset="-122"/>
                <a:cs typeface="Calibri" pitchFamily="34" charset="-120"/>
              </a:rPr>
              <a:t>CHANNEL MODEL</a:t>
            </a:r>
            <a:endParaRPr lang="en-US" sz="1300" dirty="0"/>
          </a:p>
        </p:txBody>
      </p:sp>
      <p:sp>
        <p:nvSpPr>
          <p:cNvPr id="3" name="Text 1"/>
          <p:cNvSpPr/>
          <p:nvPr/>
        </p:nvSpPr>
        <p:spPr>
          <a:xfrm>
            <a:off x="548640" y="749808"/>
            <a:ext cx="100584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Modeling the Wireless Channel</a:t>
            </a:r>
            <a:endParaRPr lang="en-US" sz="3200" dirty="0"/>
          </a:p>
        </p:txBody>
      </p:sp>
      <p:sp>
        <p:nvSpPr>
          <p:cNvPr id="4" name="Shape 2"/>
          <p:cNvSpPr/>
          <p:nvPr/>
        </p:nvSpPr>
        <p:spPr>
          <a:xfrm>
            <a:off x="700888" y="2194560"/>
            <a:ext cx="5120640" cy="3291840"/>
          </a:xfrm>
          <a:prstGeom prst="roundRect">
            <a:avLst>
              <a:gd name="adj" fmla="val 2778"/>
            </a:avLst>
          </a:prstGeom>
          <a:solidFill>
            <a:srgbClr val="0F3460"/>
          </a:solidFill>
          <a:ln/>
        </p:spPr>
      </p:sp>
      <p:sp>
        <p:nvSpPr>
          <p:cNvPr id="5" name="Shape 3"/>
          <p:cNvSpPr/>
          <p:nvPr/>
        </p:nvSpPr>
        <p:spPr>
          <a:xfrm>
            <a:off x="1158088" y="2651760"/>
            <a:ext cx="822960" cy="822960"/>
          </a:xfrm>
          <a:prstGeom prst="ellipse">
            <a:avLst/>
          </a:prstGeom>
          <a:solidFill>
            <a:srgbClr val="1C7293"/>
          </a:solidFill>
          <a:ln/>
        </p:spPr>
      </p:sp>
      <p:pic>
        <p:nvPicPr>
          <p:cNvPr id="6" name="Image 0" descr="icons/FaWater_white.png"/>
          <p:cNvPicPr>
            <a:picLocks noChangeAspect="1"/>
          </p:cNvPicPr>
          <p:nvPr/>
        </p:nvPicPr>
        <p:blipFill>
          <a:blip r:embed="rId3"/>
          <a:stretch>
            <a:fillRect/>
          </a:stretch>
        </p:blipFill>
        <p:spPr>
          <a:xfrm>
            <a:off x="1380287" y="2873959"/>
            <a:ext cx="378562" cy="378562"/>
          </a:xfrm>
          <a:prstGeom prst="rect">
            <a:avLst/>
          </a:prstGeom>
        </p:spPr>
      </p:pic>
      <p:sp>
        <p:nvSpPr>
          <p:cNvPr id="7" name="Text 4"/>
          <p:cNvSpPr/>
          <p:nvPr/>
        </p:nvSpPr>
        <p:spPr>
          <a:xfrm>
            <a:off x="1158088" y="3703320"/>
            <a:ext cx="4206240" cy="50292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Rayleigh Fading</a:t>
            </a:r>
            <a:endParaRPr lang="en-US" sz="1900" dirty="0"/>
          </a:p>
        </p:txBody>
      </p:sp>
      <p:sp>
        <p:nvSpPr>
          <p:cNvPr id="8" name="Text 5"/>
          <p:cNvSpPr/>
          <p:nvPr/>
        </p:nvSpPr>
        <p:spPr>
          <a:xfrm>
            <a:off x="1158088" y="4251960"/>
            <a:ext cx="4206240" cy="1097280"/>
          </a:xfrm>
          <a:prstGeom prst="rect">
            <a:avLst/>
          </a:prstGeom>
          <a:noFill/>
          <a:ln/>
        </p:spPr>
        <p:txBody>
          <a:bodyPr wrap="square" lIns="0" tIns="0" rIns="0" bIns="0" rtlCol="0" anchor="ctr"/>
          <a:lstStyle/>
          <a:p>
            <a:pPr marL="0" indent="0">
              <a:lnSpc>
                <a:spcPct val="130000"/>
              </a:lnSpc>
              <a:buNone/>
            </a:pPr>
            <a:r>
              <a:rPr lang="en-US" sz="1300" dirty="0">
                <a:solidFill>
                  <a:srgbClr val="C9D6E3"/>
                </a:solidFill>
                <a:latin typeface="Calibri" pitchFamily="34" charset="0"/>
                <a:ea typeface="Calibri" pitchFamily="34" charset="-122"/>
                <a:cs typeface="Calibri" pitchFamily="34" charset="-120"/>
              </a:rPr>
              <a:t>Models multipath propagation in a non-line-of-sight environment, causing the received signal envelope to fluctuate randomly over time and frequency.</a:t>
            </a:r>
            <a:endParaRPr lang="en-US" sz="1300" dirty="0"/>
          </a:p>
        </p:txBody>
      </p:sp>
      <p:sp>
        <p:nvSpPr>
          <p:cNvPr id="9" name="Shape 6"/>
          <p:cNvSpPr/>
          <p:nvPr/>
        </p:nvSpPr>
        <p:spPr>
          <a:xfrm>
            <a:off x="6370168" y="2194560"/>
            <a:ext cx="5120640" cy="3291840"/>
          </a:xfrm>
          <a:prstGeom prst="roundRect">
            <a:avLst>
              <a:gd name="adj" fmla="val 2778"/>
            </a:avLst>
          </a:prstGeom>
          <a:solidFill>
            <a:srgbClr val="0F3460"/>
          </a:solidFill>
          <a:ln/>
        </p:spPr>
      </p:sp>
      <p:sp>
        <p:nvSpPr>
          <p:cNvPr id="10" name="Shape 7"/>
          <p:cNvSpPr/>
          <p:nvPr/>
        </p:nvSpPr>
        <p:spPr>
          <a:xfrm>
            <a:off x="6827368" y="2651760"/>
            <a:ext cx="822960" cy="822960"/>
          </a:xfrm>
          <a:prstGeom prst="ellipse">
            <a:avLst/>
          </a:prstGeom>
          <a:solidFill>
            <a:srgbClr val="1C7293"/>
          </a:solidFill>
          <a:ln/>
        </p:spPr>
      </p:sp>
      <p:pic>
        <p:nvPicPr>
          <p:cNvPr id="11" name="Image 1" descr="icons/FaSignal_white.png"/>
          <p:cNvPicPr>
            <a:picLocks noChangeAspect="1"/>
          </p:cNvPicPr>
          <p:nvPr/>
        </p:nvPicPr>
        <p:blipFill>
          <a:blip r:embed="rId4"/>
          <a:stretch>
            <a:fillRect/>
          </a:stretch>
        </p:blipFill>
        <p:spPr>
          <a:xfrm>
            <a:off x="7049567" y="2873959"/>
            <a:ext cx="378562" cy="378562"/>
          </a:xfrm>
          <a:prstGeom prst="rect">
            <a:avLst/>
          </a:prstGeom>
        </p:spPr>
      </p:pic>
      <p:sp>
        <p:nvSpPr>
          <p:cNvPr id="12" name="Text 8"/>
          <p:cNvSpPr/>
          <p:nvPr/>
        </p:nvSpPr>
        <p:spPr>
          <a:xfrm>
            <a:off x="6827368" y="3703320"/>
            <a:ext cx="4206240" cy="50292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AWGN Channel</a:t>
            </a:r>
            <a:endParaRPr lang="en-US" sz="1900" dirty="0"/>
          </a:p>
        </p:txBody>
      </p:sp>
      <p:sp>
        <p:nvSpPr>
          <p:cNvPr id="13" name="Text 9"/>
          <p:cNvSpPr/>
          <p:nvPr/>
        </p:nvSpPr>
        <p:spPr>
          <a:xfrm>
            <a:off x="6827368" y="4251960"/>
            <a:ext cx="4206240" cy="1097280"/>
          </a:xfrm>
          <a:prstGeom prst="rect">
            <a:avLst/>
          </a:prstGeom>
          <a:noFill/>
          <a:ln/>
        </p:spPr>
        <p:txBody>
          <a:bodyPr wrap="square" lIns="0" tIns="0" rIns="0" bIns="0" rtlCol="0" anchor="ctr"/>
          <a:lstStyle/>
          <a:p>
            <a:pPr marL="0" indent="0">
              <a:lnSpc>
                <a:spcPct val="130000"/>
              </a:lnSpc>
              <a:buNone/>
            </a:pPr>
            <a:r>
              <a:rPr lang="en-US" sz="1300" dirty="0">
                <a:solidFill>
                  <a:srgbClr val="C9D6E3"/>
                </a:solidFill>
                <a:latin typeface="Calibri" pitchFamily="34" charset="0"/>
                <a:ea typeface="Calibri" pitchFamily="34" charset="-122"/>
                <a:cs typeface="Calibri" pitchFamily="34" charset="-120"/>
              </a:rPr>
              <a:t>Adds white Gaussian-distributed thermal noise to the signal, representing the random background interference present in every real receiver.</a:t>
            </a:r>
            <a:endParaRPr lang="en-US" sz="1300" dirty="0"/>
          </a:p>
        </p:txBody>
      </p:sp>
      <p:sp>
        <p:nvSpPr>
          <p:cNvPr id="14" name="Text 10"/>
          <p:cNvSpPr/>
          <p:nvPr/>
        </p:nvSpPr>
        <p:spPr>
          <a:xfrm>
            <a:off x="548640" y="6355080"/>
            <a:ext cx="4572000" cy="320040"/>
          </a:xfrm>
          <a:prstGeom prst="rect">
            <a:avLst/>
          </a:prstGeom>
          <a:noFill/>
          <a:ln/>
        </p:spPr>
        <p:txBody>
          <a:bodyPr wrap="square" lIns="0" tIns="0" rIns="0" bIns="0" rtlCol="0" anchor="ctr"/>
          <a:lstStyle/>
          <a:p>
            <a:pPr marL="0" indent="0">
              <a:buNone/>
            </a:pPr>
            <a:r>
              <a:rPr lang="en-US" sz="950" kern="0" spc="150" dirty="0">
                <a:solidFill>
                  <a:srgbClr val="8FA8C2"/>
                </a:solidFill>
                <a:latin typeface="Calibri" pitchFamily="34" charset="0"/>
                <a:ea typeface="Calibri" pitchFamily="34" charset="-122"/>
                <a:cs typeface="Calibri" pitchFamily="34" charset="-120"/>
              </a:rPr>
              <a:t>MC-CDMA  •  OFDM SIMULATION</a:t>
            </a:r>
            <a:endParaRPr lang="en-US" sz="950" dirty="0"/>
          </a:p>
        </p:txBody>
      </p:sp>
      <p:sp>
        <p:nvSpPr>
          <p:cNvPr id="15" name="Text 11"/>
          <p:cNvSpPr/>
          <p:nvPr/>
        </p:nvSpPr>
        <p:spPr>
          <a:xfrm>
            <a:off x="11368735" y="6355080"/>
            <a:ext cx="548640" cy="320040"/>
          </a:xfrm>
          <a:prstGeom prst="rect">
            <a:avLst/>
          </a:prstGeom>
          <a:noFill/>
          <a:ln/>
        </p:spPr>
        <p:txBody>
          <a:bodyPr wrap="square" lIns="0" tIns="0" rIns="0" bIns="0" rtlCol="0" anchor="ctr"/>
          <a:lstStyle/>
          <a:p>
            <a:pPr marL="0" indent="0" algn="r">
              <a:buNone/>
            </a:pPr>
            <a:r>
              <a:rPr lang="en-US" sz="1000" dirty="0">
                <a:solidFill>
                  <a:srgbClr val="5C7A93"/>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EVALUATION</a:t>
            </a:r>
            <a:endParaRPr lang="en-US" sz="1300" dirty="0"/>
          </a:p>
        </p:txBody>
      </p:sp>
      <p:sp>
        <p:nvSpPr>
          <p:cNvPr id="3" name="Text 1"/>
          <p:cNvSpPr/>
          <p:nvPr/>
        </p:nvSpPr>
        <p:spPr>
          <a:xfrm>
            <a:off x="548640" y="749808"/>
            <a:ext cx="9601200" cy="822960"/>
          </a:xfrm>
          <a:prstGeom prst="rect">
            <a:avLst/>
          </a:prstGeom>
          <a:noFill/>
          <a:ln/>
        </p:spPr>
        <p:txBody>
          <a:bodyPr wrap="square" lIns="0" tIns="0" rIns="0" bIns="0" rtlCol="0" anchor="ctr"/>
          <a:lstStyle/>
          <a:p>
            <a:pPr marL="0" indent="0">
              <a:buNone/>
            </a:pPr>
            <a:r>
              <a:rPr lang="en-US" sz="3200" b="1" dirty="0">
                <a:solidFill>
                  <a:srgbClr val="0A2647"/>
                </a:solidFill>
                <a:latin typeface="Cambria" pitchFamily="34" charset="0"/>
                <a:ea typeface="Cambria" pitchFamily="34" charset="-122"/>
                <a:cs typeface="Cambria" pitchFamily="34" charset="-120"/>
              </a:rPr>
              <a:t>Performance Metrics</a:t>
            </a:r>
            <a:endParaRPr lang="en-US" sz="3200" dirty="0"/>
          </a:p>
        </p:txBody>
      </p:sp>
      <p:sp>
        <p:nvSpPr>
          <p:cNvPr id="4" name="Text 2"/>
          <p:cNvSpPr/>
          <p:nvPr/>
        </p:nvSpPr>
        <p:spPr>
          <a:xfrm>
            <a:off x="548640" y="1508760"/>
            <a:ext cx="8686800" cy="365760"/>
          </a:xfrm>
          <a:prstGeom prst="rect">
            <a:avLst/>
          </a:prstGeom>
          <a:noFill/>
          <a:ln/>
        </p:spPr>
        <p:txBody>
          <a:bodyPr wrap="square" lIns="0" tIns="0" rIns="0" bIns="0" rtlCol="0" anchor="ctr"/>
          <a:lstStyle/>
          <a:p>
            <a:pPr marL="0" indent="0">
              <a:buNone/>
            </a:pPr>
            <a:r>
              <a:rPr lang="en-US" sz="1400" dirty="0">
                <a:solidFill>
                  <a:srgbClr val="5C7A93"/>
                </a:solidFill>
                <a:latin typeface="Calibri" pitchFamily="34" charset="0"/>
                <a:ea typeface="Calibri" pitchFamily="34" charset="-122"/>
                <a:cs typeface="Calibri" pitchFamily="34" charset="-120"/>
              </a:rPr>
              <a:t>Three complementary error rates quantify link quality at every layer.</a:t>
            </a:r>
            <a:endParaRPr lang="en-US" sz="1400" dirty="0"/>
          </a:p>
        </p:txBody>
      </p:sp>
      <p:sp>
        <p:nvSpPr>
          <p:cNvPr id="5" name="Shape 3"/>
          <p:cNvSpPr/>
          <p:nvPr/>
        </p:nvSpPr>
        <p:spPr>
          <a:xfrm>
            <a:off x="540868" y="2240280"/>
            <a:ext cx="3429000" cy="3291840"/>
          </a:xfrm>
          <a:prstGeom prst="roundRect">
            <a:avLst>
              <a:gd name="adj" fmla="val 2778"/>
            </a:avLst>
          </a:prstGeom>
          <a:solidFill>
            <a:srgbClr val="1C7293"/>
          </a:solidFill>
          <a:ln/>
          <a:effectLst>
            <a:outerShdw blurRad="101600" dist="38100" dir="2700000" algn="bl" rotWithShape="0">
              <a:srgbClr val="0A2647">
                <a:alpha val="12000"/>
              </a:srgbClr>
            </a:outerShdw>
          </a:effectLst>
        </p:spPr>
      </p:sp>
      <p:sp>
        <p:nvSpPr>
          <p:cNvPr id="6" name="Text 4"/>
          <p:cNvSpPr/>
          <p:nvPr/>
        </p:nvSpPr>
        <p:spPr>
          <a:xfrm>
            <a:off x="540868" y="2560320"/>
            <a:ext cx="3429000" cy="7772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BER</a:t>
            </a:r>
            <a:endParaRPr lang="en-US" sz="3800" dirty="0"/>
          </a:p>
        </p:txBody>
      </p:sp>
      <p:sp>
        <p:nvSpPr>
          <p:cNvPr id="7" name="Text 5"/>
          <p:cNvSpPr/>
          <p:nvPr/>
        </p:nvSpPr>
        <p:spPr>
          <a:xfrm>
            <a:off x="815188" y="3474720"/>
            <a:ext cx="2880360" cy="4572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Bit Error Rate</a:t>
            </a:r>
            <a:endParaRPr lang="en-US" sz="1450" dirty="0"/>
          </a:p>
        </p:txBody>
      </p:sp>
      <p:sp>
        <p:nvSpPr>
          <p:cNvPr id="8" name="Text 6"/>
          <p:cNvSpPr/>
          <p:nvPr/>
        </p:nvSpPr>
        <p:spPr>
          <a:xfrm>
            <a:off x="860908" y="4023360"/>
            <a:ext cx="2788920" cy="1371600"/>
          </a:xfrm>
          <a:prstGeom prst="rect">
            <a:avLst/>
          </a:prstGeom>
          <a:noFill/>
          <a:ln/>
        </p:spPr>
        <p:txBody>
          <a:bodyPr wrap="square" lIns="0" tIns="0" rIns="0" bIns="0" rtlCol="0" anchor="ctr"/>
          <a:lstStyle/>
          <a:p>
            <a:pPr marL="0" indent="0" algn="ctr">
              <a:lnSpc>
                <a:spcPct val="125000"/>
              </a:lnSpc>
              <a:buNone/>
            </a:pPr>
            <a:r>
              <a:rPr lang="en-US" sz="1150" dirty="0">
                <a:solidFill>
                  <a:srgbClr val="E7EEF5"/>
                </a:solidFill>
                <a:latin typeface="Calibri" pitchFamily="34" charset="0"/>
                <a:ea typeface="Calibri" pitchFamily="34" charset="-122"/>
                <a:cs typeface="Calibri" pitchFamily="34" charset="-120"/>
              </a:rPr>
              <a:t>Fraction of individual bits received in error after decoding — the finest-grained measure of link quality.</a:t>
            </a:r>
            <a:endParaRPr lang="en-US" sz="1150" dirty="0"/>
          </a:p>
        </p:txBody>
      </p:sp>
      <p:sp>
        <p:nvSpPr>
          <p:cNvPr id="9" name="Shape 7"/>
          <p:cNvSpPr/>
          <p:nvPr/>
        </p:nvSpPr>
        <p:spPr>
          <a:xfrm>
            <a:off x="4381348" y="2240280"/>
            <a:ext cx="3429000" cy="3291840"/>
          </a:xfrm>
          <a:prstGeom prst="roundRect">
            <a:avLst>
              <a:gd name="adj" fmla="val 2778"/>
            </a:avLst>
          </a:prstGeom>
          <a:solidFill>
            <a:srgbClr val="0F3460"/>
          </a:solidFill>
          <a:ln/>
          <a:effectLst>
            <a:outerShdw blurRad="101600" dist="38100" dir="2700000" algn="bl" rotWithShape="0">
              <a:srgbClr val="0A2647">
                <a:alpha val="12000"/>
              </a:srgbClr>
            </a:outerShdw>
          </a:effectLst>
        </p:spPr>
      </p:sp>
      <p:sp>
        <p:nvSpPr>
          <p:cNvPr id="10" name="Text 8"/>
          <p:cNvSpPr/>
          <p:nvPr/>
        </p:nvSpPr>
        <p:spPr>
          <a:xfrm>
            <a:off x="4381348" y="2560320"/>
            <a:ext cx="3429000" cy="7772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SER</a:t>
            </a:r>
            <a:endParaRPr lang="en-US" sz="3800" dirty="0"/>
          </a:p>
        </p:txBody>
      </p:sp>
      <p:sp>
        <p:nvSpPr>
          <p:cNvPr id="11" name="Text 9"/>
          <p:cNvSpPr/>
          <p:nvPr/>
        </p:nvSpPr>
        <p:spPr>
          <a:xfrm>
            <a:off x="4655668" y="3474720"/>
            <a:ext cx="2880360" cy="4572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Symbol Error Rate</a:t>
            </a:r>
            <a:endParaRPr lang="en-US" sz="1450" dirty="0"/>
          </a:p>
        </p:txBody>
      </p:sp>
      <p:sp>
        <p:nvSpPr>
          <p:cNvPr id="12" name="Text 10"/>
          <p:cNvSpPr/>
          <p:nvPr/>
        </p:nvSpPr>
        <p:spPr>
          <a:xfrm>
            <a:off x="4701388" y="4023360"/>
            <a:ext cx="2788920" cy="1371600"/>
          </a:xfrm>
          <a:prstGeom prst="rect">
            <a:avLst/>
          </a:prstGeom>
          <a:noFill/>
          <a:ln/>
        </p:spPr>
        <p:txBody>
          <a:bodyPr wrap="square" lIns="0" tIns="0" rIns="0" bIns="0" rtlCol="0" anchor="ctr"/>
          <a:lstStyle/>
          <a:p>
            <a:pPr marL="0" indent="0" algn="ctr">
              <a:lnSpc>
                <a:spcPct val="125000"/>
              </a:lnSpc>
              <a:buNone/>
            </a:pPr>
            <a:r>
              <a:rPr lang="en-US" sz="1150" dirty="0">
                <a:solidFill>
                  <a:srgbClr val="E7EEF5"/>
                </a:solidFill>
                <a:latin typeface="Calibri" pitchFamily="34" charset="0"/>
                <a:ea typeface="Calibri" pitchFamily="34" charset="-122"/>
                <a:cs typeface="Calibri" pitchFamily="34" charset="-120"/>
              </a:rPr>
              <a:t>Fraction of QPSK symbols decoded incorrectly, reflecting errors before bit-level mapping.</a:t>
            </a:r>
            <a:endParaRPr lang="en-US" sz="1150" dirty="0"/>
          </a:p>
        </p:txBody>
      </p:sp>
      <p:sp>
        <p:nvSpPr>
          <p:cNvPr id="13" name="Shape 11"/>
          <p:cNvSpPr/>
          <p:nvPr/>
        </p:nvSpPr>
        <p:spPr>
          <a:xfrm>
            <a:off x="8221828" y="2240280"/>
            <a:ext cx="3429000" cy="3291840"/>
          </a:xfrm>
          <a:prstGeom prst="roundRect">
            <a:avLst>
              <a:gd name="adj" fmla="val 2778"/>
            </a:avLst>
          </a:prstGeom>
          <a:solidFill>
            <a:srgbClr val="0A2647"/>
          </a:solidFill>
          <a:ln/>
          <a:effectLst>
            <a:outerShdw blurRad="101600" dist="38100" dir="2700000" algn="bl" rotWithShape="0">
              <a:srgbClr val="0A2647">
                <a:alpha val="12000"/>
              </a:srgbClr>
            </a:outerShdw>
          </a:effectLst>
        </p:spPr>
      </p:sp>
      <p:sp>
        <p:nvSpPr>
          <p:cNvPr id="14" name="Text 12"/>
          <p:cNvSpPr/>
          <p:nvPr/>
        </p:nvSpPr>
        <p:spPr>
          <a:xfrm>
            <a:off x="8221828" y="2560320"/>
            <a:ext cx="3429000" cy="7772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FER</a:t>
            </a:r>
            <a:endParaRPr lang="en-US" sz="3800" dirty="0"/>
          </a:p>
        </p:txBody>
      </p:sp>
      <p:sp>
        <p:nvSpPr>
          <p:cNvPr id="15" name="Text 13"/>
          <p:cNvSpPr/>
          <p:nvPr/>
        </p:nvSpPr>
        <p:spPr>
          <a:xfrm>
            <a:off x="8496148" y="3474720"/>
            <a:ext cx="2880360" cy="4572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Frame Error Rate</a:t>
            </a:r>
            <a:endParaRPr lang="en-US" sz="1450" dirty="0"/>
          </a:p>
        </p:txBody>
      </p:sp>
      <p:sp>
        <p:nvSpPr>
          <p:cNvPr id="16" name="Text 14"/>
          <p:cNvSpPr/>
          <p:nvPr/>
        </p:nvSpPr>
        <p:spPr>
          <a:xfrm>
            <a:off x="8541868" y="4023360"/>
            <a:ext cx="2788920" cy="1371600"/>
          </a:xfrm>
          <a:prstGeom prst="rect">
            <a:avLst/>
          </a:prstGeom>
          <a:noFill/>
          <a:ln/>
        </p:spPr>
        <p:txBody>
          <a:bodyPr wrap="square" lIns="0" tIns="0" rIns="0" bIns="0" rtlCol="0" anchor="ctr"/>
          <a:lstStyle/>
          <a:p>
            <a:pPr marL="0" indent="0" algn="ctr">
              <a:lnSpc>
                <a:spcPct val="125000"/>
              </a:lnSpc>
              <a:buNone/>
            </a:pPr>
            <a:r>
              <a:rPr lang="en-US" sz="1150" dirty="0">
                <a:solidFill>
                  <a:srgbClr val="E7EEF5"/>
                </a:solidFill>
                <a:latin typeface="Calibri" pitchFamily="34" charset="0"/>
                <a:ea typeface="Calibri" pitchFamily="34" charset="-122"/>
                <a:cs typeface="Calibri" pitchFamily="34" charset="-120"/>
              </a:rPr>
              <a:t>Fraction of entire frames containing at least one error — the strictest, most application-relevant metric.</a:t>
            </a:r>
            <a:endParaRPr lang="en-US" sz="1150" dirty="0"/>
          </a:p>
        </p:txBody>
      </p:sp>
      <p:sp>
        <p:nvSpPr>
          <p:cNvPr id="17" name="Text 15"/>
          <p:cNvSpPr/>
          <p:nvPr/>
        </p:nvSpPr>
        <p:spPr>
          <a:xfrm>
            <a:off x="548640" y="6355080"/>
            <a:ext cx="4572000" cy="320040"/>
          </a:xfrm>
          <a:prstGeom prst="rect">
            <a:avLst/>
          </a:prstGeom>
          <a:noFill/>
          <a:ln/>
        </p:spPr>
        <p:txBody>
          <a:bodyPr wrap="square" lIns="0" tIns="0" rIns="0" bIns="0" rtlCol="0" anchor="ctr"/>
          <a:lstStyle/>
          <a:p>
            <a:pPr marL="0" indent="0">
              <a:buNone/>
            </a:pPr>
            <a:r>
              <a:rPr lang="en-US" sz="950" kern="0" spc="150" dirty="0">
                <a:solidFill>
                  <a:srgbClr val="5C7A93"/>
                </a:solidFill>
                <a:latin typeface="Calibri" pitchFamily="34" charset="0"/>
                <a:ea typeface="Calibri" pitchFamily="34" charset="-122"/>
                <a:cs typeface="Calibri" pitchFamily="34" charset="-120"/>
              </a:rPr>
              <a:t>MC-CDMA  •  OFDM SIMULATION</a:t>
            </a:r>
            <a:endParaRPr lang="en-US" sz="950" dirty="0"/>
          </a:p>
        </p:txBody>
      </p:sp>
      <p:sp>
        <p:nvSpPr>
          <p:cNvPr id="18" name="Text 16"/>
          <p:cNvSpPr/>
          <p:nvPr/>
        </p:nvSpPr>
        <p:spPr>
          <a:xfrm>
            <a:off x="11368735" y="6355080"/>
            <a:ext cx="548640" cy="320040"/>
          </a:xfrm>
          <a:prstGeom prst="rect">
            <a:avLst/>
          </a:prstGeom>
          <a:noFill/>
          <a:ln/>
        </p:spPr>
        <p:txBody>
          <a:bodyPr wrap="square" lIns="0" tIns="0" rIns="0" bIns="0" rtlCol="0" anchor="ctr"/>
          <a:lstStyle/>
          <a:p>
            <a:pPr marL="0" indent="0" algn="r">
              <a:buNone/>
            </a:pPr>
            <a:r>
              <a:rPr lang="en-US" sz="1000" dirty="0">
                <a:solidFill>
                  <a:srgbClr val="5C7A93"/>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RESULTS</a:t>
            </a:r>
            <a:endParaRPr lang="en-US" sz="1300" dirty="0"/>
          </a:p>
        </p:txBody>
      </p:sp>
      <p:sp>
        <p:nvSpPr>
          <p:cNvPr id="3" name="Text 1"/>
          <p:cNvSpPr/>
          <p:nvPr/>
        </p:nvSpPr>
        <p:spPr>
          <a:xfrm>
            <a:off x="548640" y="749808"/>
            <a:ext cx="9601200" cy="822960"/>
          </a:xfrm>
          <a:prstGeom prst="rect">
            <a:avLst/>
          </a:prstGeom>
          <a:noFill/>
          <a:ln/>
        </p:spPr>
        <p:txBody>
          <a:bodyPr wrap="square" lIns="0" tIns="0" rIns="0" bIns="0" rtlCol="0" anchor="ctr"/>
          <a:lstStyle/>
          <a:p>
            <a:pPr marL="0" indent="0">
              <a:buNone/>
            </a:pPr>
            <a:r>
              <a:rPr lang="en-US" sz="3200" b="1" dirty="0">
                <a:solidFill>
                  <a:srgbClr val="0A2647"/>
                </a:solidFill>
                <a:latin typeface="Cambria" pitchFamily="34" charset="0"/>
                <a:ea typeface="Cambria" pitchFamily="34" charset="-122"/>
                <a:cs typeface="Cambria" pitchFamily="34" charset="-120"/>
              </a:rPr>
              <a:t>Error Rate vs. SNR</a:t>
            </a:r>
            <a:endParaRPr lang="en-US" sz="3200" dirty="0"/>
          </a:p>
        </p:txBody>
      </p:sp>
      <p:sp>
        <p:nvSpPr>
          <p:cNvPr id="4" name="Shape 2"/>
          <p:cNvSpPr/>
          <p:nvPr/>
        </p:nvSpPr>
        <p:spPr>
          <a:xfrm>
            <a:off x="411480" y="1463040"/>
            <a:ext cx="7293750" cy="4892040"/>
          </a:xfrm>
          <a:prstGeom prst="roundRect">
            <a:avLst>
              <a:gd name="adj" fmla="val 1121"/>
            </a:avLst>
          </a:prstGeom>
          <a:solidFill>
            <a:srgbClr val="FFFFFF"/>
          </a:solidFill>
          <a:ln/>
          <a:effectLst>
            <a:outerShdw blurRad="101600" dist="38100" dir="2700000" algn="bl" rotWithShape="0">
              <a:srgbClr val="0A2647">
                <a:alpha val="12000"/>
              </a:srgbClr>
            </a:outerShdw>
          </a:effectLst>
        </p:spPr>
      </p:sp>
      <p:pic>
        <p:nvPicPr>
          <p:cNvPr id="5" name="Image 0" descr="images/BER_SER_FER.png"/>
          <p:cNvPicPr>
            <a:picLocks noChangeAspect="1"/>
          </p:cNvPicPr>
          <p:nvPr/>
        </p:nvPicPr>
        <p:blipFill>
          <a:blip r:embed="rId3"/>
          <a:stretch>
            <a:fillRect/>
          </a:stretch>
        </p:blipFill>
        <p:spPr>
          <a:xfrm>
            <a:off x="548640" y="1600200"/>
            <a:ext cx="7019430" cy="4617720"/>
          </a:xfrm>
          <a:prstGeom prst="rect">
            <a:avLst/>
          </a:prstGeom>
        </p:spPr>
      </p:pic>
      <p:sp>
        <p:nvSpPr>
          <p:cNvPr id="6" name="Text 3"/>
          <p:cNvSpPr/>
          <p:nvPr/>
        </p:nvSpPr>
        <p:spPr>
          <a:xfrm>
            <a:off x="8208150" y="1691640"/>
            <a:ext cx="3434906" cy="365760"/>
          </a:xfrm>
          <a:prstGeom prst="rect">
            <a:avLst/>
          </a:prstGeom>
          <a:noFill/>
          <a:ln/>
        </p:spPr>
        <p:txBody>
          <a:bodyPr wrap="square" lIns="0" tIns="0" rIns="0" bIns="0" rtlCol="0" anchor="ctr"/>
          <a:lstStyle/>
          <a:p>
            <a:pPr marL="0" indent="0">
              <a:buNone/>
            </a:pPr>
            <a:r>
              <a:rPr lang="en-US" sz="1700" b="1" dirty="0">
                <a:solidFill>
                  <a:srgbClr val="0A2647"/>
                </a:solidFill>
                <a:latin typeface="Cambria" pitchFamily="34" charset="0"/>
                <a:ea typeface="Cambria" pitchFamily="34" charset="-122"/>
                <a:cs typeface="Cambria" pitchFamily="34" charset="-120"/>
              </a:rPr>
              <a:t>Reading the curves</a:t>
            </a:r>
            <a:endParaRPr lang="en-US" sz="1700" dirty="0"/>
          </a:p>
        </p:txBody>
      </p:sp>
      <p:sp>
        <p:nvSpPr>
          <p:cNvPr id="7" name="Text 4"/>
          <p:cNvSpPr/>
          <p:nvPr/>
        </p:nvSpPr>
        <p:spPr>
          <a:xfrm>
            <a:off x="8208150" y="2194560"/>
            <a:ext cx="3434906" cy="3931920"/>
          </a:xfrm>
          <a:prstGeom prst="rect">
            <a:avLst/>
          </a:prstGeom>
          <a:noFill/>
          <a:ln/>
        </p:spPr>
        <p:txBody>
          <a:bodyPr wrap="square" lIns="0" tIns="0" rIns="0" bIns="0" rtlCol="0" anchor="ctr"/>
          <a:lstStyle/>
          <a:p>
            <a:pPr marL="342900" indent="-342900">
              <a:lnSpc>
                <a:spcPct val="130000"/>
              </a:lnSpc>
              <a:spcAft>
                <a:spcPts val="1200"/>
              </a:spcAft>
              <a:buSzPct val="100000"/>
              <a:buChar char="▪"/>
            </a:pPr>
            <a:r>
              <a:rPr lang="en-US" sz="1300" dirty="0">
                <a:solidFill>
                  <a:srgbClr val="13293D"/>
                </a:solidFill>
                <a:latin typeface="Calibri" pitchFamily="34" charset="0"/>
                <a:ea typeface="Calibri" pitchFamily="34" charset="-122"/>
                <a:cs typeface="Calibri" pitchFamily="34" charset="-120"/>
              </a:rPr>
              <a:t>BER falls fastest, dropping to 1e-4 by 18 dB SNR.</a:t>
            </a:r>
            <a:endParaRPr lang="en-US" sz="1300" dirty="0"/>
          </a:p>
          <a:p>
            <a:pPr marL="342900" indent="-342900">
              <a:lnSpc>
                <a:spcPct val="130000"/>
              </a:lnSpc>
              <a:spcAft>
                <a:spcPts val="1200"/>
              </a:spcAft>
              <a:buSzPct val="100000"/>
              <a:buChar char="▪"/>
            </a:pPr>
            <a:r>
              <a:rPr lang="en-US" sz="1300" dirty="0">
                <a:solidFill>
                  <a:srgbClr val="13293D"/>
                </a:solidFill>
                <a:latin typeface="Calibri" pitchFamily="34" charset="0"/>
                <a:ea typeface="Calibri" pitchFamily="34" charset="-122"/>
                <a:cs typeface="Calibri" pitchFamily="34" charset="-120"/>
              </a:rPr>
              <a:t>SER stays consistently above BER, since one symbol error can stem from a single bit flip.</a:t>
            </a:r>
            <a:endParaRPr lang="en-US" sz="1300" dirty="0"/>
          </a:p>
          <a:p>
            <a:pPr marL="342900" indent="-342900">
              <a:lnSpc>
                <a:spcPct val="130000"/>
              </a:lnSpc>
              <a:spcAft>
                <a:spcPts val="1200"/>
              </a:spcAft>
              <a:buSzPct val="100000"/>
              <a:buChar char="▪"/>
            </a:pPr>
            <a:r>
              <a:rPr lang="en-US" sz="1300" dirty="0">
                <a:solidFill>
                  <a:srgbClr val="13293D"/>
                </a:solidFill>
                <a:latin typeface="Calibri" pitchFamily="34" charset="0"/>
                <a:ea typeface="Calibri" pitchFamily="34" charset="-122"/>
                <a:cs typeface="Calibri" pitchFamily="34" charset="-120"/>
              </a:rPr>
              <a:t>FER remains near 1 until SNR climbs past ~14 dB, then collapses sharply.</a:t>
            </a:r>
            <a:endParaRPr lang="en-US" sz="1300" dirty="0"/>
          </a:p>
          <a:p>
            <a:pPr marL="342900" indent="-342900">
              <a:lnSpc>
                <a:spcPct val="130000"/>
              </a:lnSpc>
              <a:spcAft>
                <a:spcPts val="1200"/>
              </a:spcAft>
              <a:buSzPct val="100000"/>
              <a:buChar char="▪"/>
            </a:pPr>
            <a:r>
              <a:rPr lang="en-US" sz="1300" dirty="0">
                <a:solidFill>
                  <a:srgbClr val="13293D"/>
                </a:solidFill>
                <a:latin typeface="Calibri" pitchFamily="34" charset="0"/>
                <a:ea typeface="Calibri" pitchFamily="34" charset="-122"/>
                <a:cs typeface="Calibri" pitchFamily="34" charset="-120"/>
              </a:rPr>
              <a:t>All three confirm a classic waterfall region — the system transitions quickly from unreliable to highly reliable.</a:t>
            </a:r>
            <a:endParaRPr lang="en-US" sz="1300" dirty="0"/>
          </a:p>
        </p:txBody>
      </p:sp>
      <p:sp>
        <p:nvSpPr>
          <p:cNvPr id="8" name="Text 5"/>
          <p:cNvSpPr/>
          <p:nvPr/>
        </p:nvSpPr>
        <p:spPr>
          <a:xfrm>
            <a:off x="548640" y="6355080"/>
            <a:ext cx="4572000" cy="320040"/>
          </a:xfrm>
          <a:prstGeom prst="rect">
            <a:avLst/>
          </a:prstGeom>
          <a:noFill/>
          <a:ln/>
        </p:spPr>
        <p:txBody>
          <a:bodyPr wrap="square" lIns="0" tIns="0" rIns="0" bIns="0" rtlCol="0" anchor="ctr"/>
          <a:lstStyle/>
          <a:p>
            <a:pPr marL="0" indent="0">
              <a:buNone/>
            </a:pPr>
            <a:r>
              <a:rPr lang="en-US" sz="950" kern="0" spc="150" dirty="0">
                <a:solidFill>
                  <a:srgbClr val="5C7A93"/>
                </a:solidFill>
                <a:latin typeface="Calibri" pitchFamily="34" charset="0"/>
                <a:ea typeface="Calibri" pitchFamily="34" charset="-122"/>
                <a:cs typeface="Calibri" pitchFamily="34" charset="-120"/>
              </a:rPr>
              <a:t>MC-CDMA  •  OFDM SIMULATION</a:t>
            </a:r>
            <a:endParaRPr lang="en-US" sz="950" dirty="0"/>
          </a:p>
        </p:txBody>
      </p:sp>
      <p:sp>
        <p:nvSpPr>
          <p:cNvPr id="9" name="Text 6"/>
          <p:cNvSpPr/>
          <p:nvPr/>
        </p:nvSpPr>
        <p:spPr>
          <a:xfrm>
            <a:off x="11368735" y="6355080"/>
            <a:ext cx="548640" cy="320040"/>
          </a:xfrm>
          <a:prstGeom prst="rect">
            <a:avLst/>
          </a:prstGeom>
          <a:noFill/>
          <a:ln/>
        </p:spPr>
        <p:txBody>
          <a:bodyPr wrap="square" lIns="0" tIns="0" rIns="0" bIns="0" rtlCol="0" anchor="ctr"/>
          <a:lstStyle/>
          <a:p>
            <a:pPr marL="0" indent="0" algn="r">
              <a:buNone/>
            </a:pPr>
            <a:r>
              <a:rPr lang="en-US" sz="1000" dirty="0">
                <a:solidFill>
                  <a:srgbClr val="5C7A93"/>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RESULTS</a:t>
            </a:r>
            <a:endParaRPr lang="en-US" sz="1300" dirty="0"/>
          </a:p>
        </p:txBody>
      </p:sp>
      <p:sp>
        <p:nvSpPr>
          <p:cNvPr id="3" name="Text 1"/>
          <p:cNvSpPr/>
          <p:nvPr/>
        </p:nvSpPr>
        <p:spPr>
          <a:xfrm>
            <a:off x="548640" y="749808"/>
            <a:ext cx="9601200" cy="822960"/>
          </a:xfrm>
          <a:prstGeom prst="rect">
            <a:avLst/>
          </a:prstGeom>
          <a:noFill/>
          <a:ln/>
        </p:spPr>
        <p:txBody>
          <a:bodyPr wrap="square" lIns="0" tIns="0" rIns="0" bIns="0" rtlCol="0" anchor="ctr"/>
          <a:lstStyle/>
          <a:p>
            <a:pPr marL="0" indent="0">
              <a:buNone/>
            </a:pPr>
            <a:r>
              <a:rPr lang="en-US" sz="3200" b="1" dirty="0">
                <a:solidFill>
                  <a:srgbClr val="0A2647"/>
                </a:solidFill>
                <a:latin typeface="Cambria" pitchFamily="34" charset="0"/>
                <a:ea typeface="Cambria" pitchFamily="34" charset="-122"/>
                <a:cs typeface="Cambria" pitchFamily="34" charset="-120"/>
              </a:rPr>
              <a:t>Spectral Analysis: Before vs. After Spreading</a:t>
            </a:r>
            <a:endParaRPr lang="en-US" sz="3200" dirty="0"/>
          </a:p>
        </p:txBody>
      </p:sp>
      <p:sp>
        <p:nvSpPr>
          <p:cNvPr id="4" name="Text 2"/>
          <p:cNvSpPr/>
          <p:nvPr/>
        </p:nvSpPr>
        <p:spPr>
          <a:xfrm>
            <a:off x="548640" y="1463040"/>
            <a:ext cx="10789920" cy="411480"/>
          </a:xfrm>
          <a:prstGeom prst="rect">
            <a:avLst/>
          </a:prstGeom>
          <a:noFill/>
          <a:ln/>
        </p:spPr>
        <p:txBody>
          <a:bodyPr wrap="square" lIns="0" tIns="0" rIns="0" bIns="0" rtlCol="0" anchor="ctr"/>
          <a:lstStyle/>
          <a:p>
            <a:pPr marL="0" indent="0">
              <a:buNone/>
            </a:pPr>
            <a:r>
              <a:rPr lang="en-US" sz="1350" dirty="0">
                <a:solidFill>
                  <a:srgbClr val="5C7A93"/>
                </a:solidFill>
                <a:latin typeface="Calibri" pitchFamily="34" charset="0"/>
                <a:ea typeface="Calibri" pitchFamily="34" charset="-122"/>
                <a:cs typeface="Calibri" pitchFamily="34" charset="-120"/>
              </a:rPr>
              <a:t>Walsh spreading widens each narrowband subcarrier into a wideband signal, trading peak power for processing gain.</a:t>
            </a:r>
            <a:endParaRPr lang="en-US" sz="1350" dirty="0"/>
          </a:p>
        </p:txBody>
      </p:sp>
      <p:sp>
        <p:nvSpPr>
          <p:cNvPr id="5" name="Shape 3"/>
          <p:cNvSpPr/>
          <p:nvPr/>
        </p:nvSpPr>
        <p:spPr>
          <a:xfrm>
            <a:off x="682600" y="2176272"/>
            <a:ext cx="5340096" cy="2637536"/>
          </a:xfrm>
          <a:prstGeom prst="roundRect">
            <a:avLst>
              <a:gd name="adj" fmla="val 1733"/>
            </a:avLst>
          </a:prstGeom>
          <a:solidFill>
            <a:srgbClr val="FFFFFF"/>
          </a:solidFill>
          <a:ln/>
          <a:effectLst>
            <a:outerShdw blurRad="101600" dist="38100" dir="2700000" algn="bl" rotWithShape="0">
              <a:srgbClr val="0A2647">
                <a:alpha val="12000"/>
              </a:srgbClr>
            </a:outerShdw>
          </a:effectLst>
        </p:spPr>
      </p:sp>
      <p:pic>
        <p:nvPicPr>
          <p:cNvPr id="6" name="Image 0" descr="images/freq_spectrum.png"/>
          <p:cNvPicPr>
            <a:picLocks noChangeAspect="1"/>
          </p:cNvPicPr>
          <p:nvPr/>
        </p:nvPicPr>
        <p:blipFill>
          <a:blip r:embed="rId3"/>
          <a:stretch>
            <a:fillRect/>
          </a:stretch>
        </p:blipFill>
        <p:spPr>
          <a:xfrm>
            <a:off x="792328" y="2286000"/>
            <a:ext cx="5120640" cy="2418080"/>
          </a:xfrm>
          <a:prstGeom prst="rect">
            <a:avLst/>
          </a:prstGeom>
        </p:spPr>
      </p:pic>
      <p:sp>
        <p:nvSpPr>
          <p:cNvPr id="7" name="Shape 4"/>
          <p:cNvSpPr/>
          <p:nvPr/>
        </p:nvSpPr>
        <p:spPr>
          <a:xfrm>
            <a:off x="6169000" y="2176272"/>
            <a:ext cx="5340096" cy="2637536"/>
          </a:xfrm>
          <a:prstGeom prst="roundRect">
            <a:avLst>
              <a:gd name="adj" fmla="val 1733"/>
            </a:avLst>
          </a:prstGeom>
          <a:solidFill>
            <a:srgbClr val="FFFFFF"/>
          </a:solidFill>
          <a:ln/>
          <a:effectLst>
            <a:outerShdw blurRad="101600" dist="38100" dir="2700000" algn="bl" rotWithShape="0">
              <a:srgbClr val="0A2647">
                <a:alpha val="12000"/>
              </a:srgbClr>
            </a:outerShdw>
          </a:effectLst>
        </p:spPr>
      </p:sp>
      <p:pic>
        <p:nvPicPr>
          <p:cNvPr id="8" name="Image 1" descr="images/PSD.png"/>
          <p:cNvPicPr>
            <a:picLocks noChangeAspect="1"/>
          </p:cNvPicPr>
          <p:nvPr/>
        </p:nvPicPr>
        <p:blipFill>
          <a:blip r:embed="rId4"/>
          <a:stretch>
            <a:fillRect/>
          </a:stretch>
        </p:blipFill>
        <p:spPr>
          <a:xfrm>
            <a:off x="6278728" y="2286000"/>
            <a:ext cx="5120640" cy="2404474"/>
          </a:xfrm>
          <a:prstGeom prst="rect">
            <a:avLst/>
          </a:prstGeom>
        </p:spPr>
      </p:pic>
      <p:sp>
        <p:nvSpPr>
          <p:cNvPr id="9" name="Text 5"/>
          <p:cNvSpPr/>
          <p:nvPr/>
        </p:nvSpPr>
        <p:spPr>
          <a:xfrm>
            <a:off x="792328" y="4868672"/>
            <a:ext cx="5120640" cy="274320"/>
          </a:xfrm>
          <a:prstGeom prst="rect">
            <a:avLst/>
          </a:prstGeom>
          <a:noFill/>
          <a:ln/>
        </p:spPr>
        <p:txBody>
          <a:bodyPr wrap="square" lIns="0" tIns="0" rIns="0" bIns="0" rtlCol="0" anchor="ctr"/>
          <a:lstStyle/>
          <a:p>
            <a:pPr marL="0" indent="0" algn="ctr">
              <a:buNone/>
            </a:pPr>
            <a:r>
              <a:rPr lang="en-US" sz="1100" b="1" dirty="0">
                <a:solidFill>
                  <a:srgbClr val="0A2647"/>
                </a:solidFill>
                <a:latin typeface="Calibri" pitchFamily="34" charset="0"/>
                <a:ea typeface="Calibri" pitchFamily="34" charset="-122"/>
                <a:cs typeface="Calibri" pitchFamily="34" charset="-120"/>
              </a:rPr>
              <a:t>Frequency Spectrum</a:t>
            </a:r>
            <a:endParaRPr lang="en-US" sz="1100" dirty="0"/>
          </a:p>
        </p:txBody>
      </p:sp>
      <p:sp>
        <p:nvSpPr>
          <p:cNvPr id="10" name="Text 6"/>
          <p:cNvSpPr/>
          <p:nvPr/>
        </p:nvSpPr>
        <p:spPr>
          <a:xfrm>
            <a:off x="6278728" y="4868672"/>
            <a:ext cx="5120640" cy="274320"/>
          </a:xfrm>
          <a:prstGeom prst="rect">
            <a:avLst/>
          </a:prstGeom>
          <a:noFill/>
          <a:ln/>
        </p:spPr>
        <p:txBody>
          <a:bodyPr wrap="square" lIns="0" tIns="0" rIns="0" bIns="0" rtlCol="0" anchor="ctr"/>
          <a:lstStyle/>
          <a:p>
            <a:pPr marL="0" indent="0" algn="ctr">
              <a:buNone/>
            </a:pPr>
            <a:r>
              <a:rPr lang="en-US" sz="1100" b="1" dirty="0">
                <a:solidFill>
                  <a:srgbClr val="0A2647"/>
                </a:solidFill>
                <a:latin typeface="Calibri" pitchFamily="34" charset="0"/>
                <a:ea typeface="Calibri" pitchFamily="34" charset="-122"/>
                <a:cs typeface="Calibri" pitchFamily="34" charset="-120"/>
              </a:rPr>
              <a:t>Power Spectral Density</a:t>
            </a:r>
            <a:endParaRPr lang="en-US" sz="1100" dirty="0"/>
          </a:p>
        </p:txBody>
      </p:sp>
      <p:sp>
        <p:nvSpPr>
          <p:cNvPr id="11" name="Text 7"/>
          <p:cNvSpPr/>
          <p:nvPr/>
        </p:nvSpPr>
        <p:spPr>
          <a:xfrm>
            <a:off x="548640" y="5271008"/>
            <a:ext cx="10789920" cy="457200"/>
          </a:xfrm>
          <a:prstGeom prst="rect">
            <a:avLst/>
          </a:prstGeom>
          <a:noFill/>
          <a:ln/>
        </p:spPr>
        <p:txBody>
          <a:bodyPr wrap="square" lIns="0" tIns="0" rIns="0" bIns="0" rtlCol="0" anchor="ctr"/>
          <a:lstStyle/>
          <a:p>
            <a:pPr marL="0" indent="0">
              <a:lnSpc>
                <a:spcPct val="125000"/>
              </a:lnSpc>
              <a:buNone/>
            </a:pPr>
            <a:r>
              <a:rPr lang="en-US" sz="1250" dirty="0">
                <a:solidFill>
                  <a:srgbClr val="5C7A93"/>
                </a:solidFill>
                <a:latin typeface="Calibri" pitchFamily="34" charset="0"/>
                <a:ea typeface="Calibri" pitchFamily="34" charset="-122"/>
                <a:cs typeface="Calibri" pitchFamily="34" charset="-120"/>
              </a:rPr>
              <a:t>Spreading raises the noise floor between subcarriers by roughly 70 dB/Hz, distributing energy across a much wider band for processing-gain resilience.</a:t>
            </a:r>
            <a:endParaRPr lang="en-US" sz="1250" dirty="0"/>
          </a:p>
        </p:txBody>
      </p:sp>
      <p:sp>
        <p:nvSpPr>
          <p:cNvPr id="12" name="Text 8"/>
          <p:cNvSpPr/>
          <p:nvPr/>
        </p:nvSpPr>
        <p:spPr>
          <a:xfrm>
            <a:off x="548640" y="6355080"/>
            <a:ext cx="4572000" cy="320040"/>
          </a:xfrm>
          <a:prstGeom prst="rect">
            <a:avLst/>
          </a:prstGeom>
          <a:noFill/>
          <a:ln/>
        </p:spPr>
        <p:txBody>
          <a:bodyPr wrap="square" lIns="0" tIns="0" rIns="0" bIns="0" rtlCol="0" anchor="ctr"/>
          <a:lstStyle/>
          <a:p>
            <a:pPr marL="0" indent="0">
              <a:buNone/>
            </a:pPr>
            <a:r>
              <a:rPr lang="en-US" sz="950" kern="0" spc="150" dirty="0">
                <a:solidFill>
                  <a:srgbClr val="5C7A93"/>
                </a:solidFill>
                <a:latin typeface="Calibri" pitchFamily="34" charset="0"/>
                <a:ea typeface="Calibri" pitchFamily="34" charset="-122"/>
                <a:cs typeface="Calibri" pitchFamily="34" charset="-120"/>
              </a:rPr>
              <a:t>MC-CDMA  •  OFDM SIMULATION</a:t>
            </a:r>
            <a:endParaRPr lang="en-US" sz="950" dirty="0"/>
          </a:p>
        </p:txBody>
      </p:sp>
      <p:sp>
        <p:nvSpPr>
          <p:cNvPr id="13" name="Text 9"/>
          <p:cNvSpPr/>
          <p:nvPr/>
        </p:nvSpPr>
        <p:spPr>
          <a:xfrm>
            <a:off x="11368735" y="6355080"/>
            <a:ext cx="548640" cy="320040"/>
          </a:xfrm>
          <a:prstGeom prst="rect">
            <a:avLst/>
          </a:prstGeom>
          <a:noFill/>
          <a:ln/>
        </p:spPr>
        <p:txBody>
          <a:bodyPr wrap="square" lIns="0" tIns="0" rIns="0" bIns="0" rtlCol="0" anchor="ctr"/>
          <a:lstStyle/>
          <a:p>
            <a:pPr marL="0" indent="0" algn="r">
              <a:buNone/>
            </a:pPr>
            <a:r>
              <a:rPr lang="en-US" sz="1000" dirty="0">
                <a:solidFill>
                  <a:srgbClr val="5C7A9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647"/>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2A341"/>
                </a:solidFill>
                <a:latin typeface="Calibri" pitchFamily="34" charset="0"/>
                <a:ea typeface="Calibri" pitchFamily="34" charset="-122"/>
                <a:cs typeface="Calibri" pitchFamily="34" charset="-120"/>
              </a:rPr>
              <a:t>TOOLKIT</a:t>
            </a:r>
            <a:endParaRPr lang="en-US" sz="1300" dirty="0"/>
          </a:p>
        </p:txBody>
      </p:sp>
      <p:sp>
        <p:nvSpPr>
          <p:cNvPr id="3" name="Text 1"/>
          <p:cNvSpPr/>
          <p:nvPr/>
        </p:nvSpPr>
        <p:spPr>
          <a:xfrm>
            <a:off x="548640" y="749808"/>
            <a:ext cx="100584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Technologies Used</a:t>
            </a:r>
            <a:endParaRPr lang="en-US" sz="3200" dirty="0"/>
          </a:p>
        </p:txBody>
      </p:sp>
      <p:sp>
        <p:nvSpPr>
          <p:cNvPr id="4" name="Shape 2"/>
          <p:cNvSpPr/>
          <p:nvPr/>
        </p:nvSpPr>
        <p:spPr>
          <a:xfrm>
            <a:off x="632308" y="2011680"/>
            <a:ext cx="3429000" cy="1737360"/>
          </a:xfrm>
          <a:prstGeom prst="roundRect">
            <a:avLst>
              <a:gd name="adj" fmla="val 4211"/>
            </a:avLst>
          </a:prstGeom>
          <a:solidFill>
            <a:srgbClr val="0F3460"/>
          </a:solidFill>
          <a:ln/>
        </p:spPr>
      </p:sp>
      <p:sp>
        <p:nvSpPr>
          <p:cNvPr id="5" name="Shape 3"/>
          <p:cNvSpPr/>
          <p:nvPr/>
        </p:nvSpPr>
        <p:spPr>
          <a:xfrm>
            <a:off x="952348" y="2395728"/>
            <a:ext cx="777240" cy="777240"/>
          </a:xfrm>
          <a:prstGeom prst="ellipse">
            <a:avLst/>
          </a:prstGeom>
          <a:solidFill>
            <a:srgbClr val="1C7293"/>
          </a:solidFill>
          <a:ln/>
        </p:spPr>
      </p:sp>
      <p:pic>
        <p:nvPicPr>
          <p:cNvPr id="6" name="Image 0" descr="icons/FaMicrochip_white.png"/>
          <p:cNvPicPr>
            <a:picLocks noChangeAspect="1"/>
          </p:cNvPicPr>
          <p:nvPr/>
        </p:nvPicPr>
        <p:blipFill>
          <a:blip r:embed="rId3"/>
          <a:stretch>
            <a:fillRect/>
          </a:stretch>
        </p:blipFill>
        <p:spPr>
          <a:xfrm>
            <a:off x="1162202" y="2605583"/>
            <a:ext cx="357530" cy="357530"/>
          </a:xfrm>
          <a:prstGeom prst="rect">
            <a:avLst/>
          </a:prstGeom>
        </p:spPr>
      </p:pic>
      <p:sp>
        <p:nvSpPr>
          <p:cNvPr id="7" name="Text 4"/>
          <p:cNvSpPr/>
          <p:nvPr/>
        </p:nvSpPr>
        <p:spPr>
          <a:xfrm>
            <a:off x="1912468" y="2011680"/>
            <a:ext cx="1965960" cy="17373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MATLAB</a:t>
            </a:r>
            <a:endParaRPr lang="en-US" sz="1700" dirty="0"/>
          </a:p>
        </p:txBody>
      </p:sp>
      <p:sp>
        <p:nvSpPr>
          <p:cNvPr id="8" name="Shape 5"/>
          <p:cNvSpPr/>
          <p:nvPr/>
        </p:nvSpPr>
        <p:spPr>
          <a:xfrm>
            <a:off x="4381348" y="2011680"/>
            <a:ext cx="3429000" cy="1737360"/>
          </a:xfrm>
          <a:prstGeom prst="roundRect">
            <a:avLst>
              <a:gd name="adj" fmla="val 4211"/>
            </a:avLst>
          </a:prstGeom>
          <a:solidFill>
            <a:srgbClr val="0F3460"/>
          </a:solidFill>
          <a:ln/>
        </p:spPr>
      </p:sp>
      <p:sp>
        <p:nvSpPr>
          <p:cNvPr id="9" name="Shape 6"/>
          <p:cNvSpPr/>
          <p:nvPr/>
        </p:nvSpPr>
        <p:spPr>
          <a:xfrm>
            <a:off x="4701388" y="2395728"/>
            <a:ext cx="777240" cy="777240"/>
          </a:xfrm>
          <a:prstGeom prst="ellipse">
            <a:avLst/>
          </a:prstGeom>
          <a:solidFill>
            <a:srgbClr val="1C7293"/>
          </a:solidFill>
          <a:ln/>
        </p:spPr>
      </p:sp>
      <p:pic>
        <p:nvPicPr>
          <p:cNvPr id="10" name="Image 1" descr="icons/FaWaveSquare_white.png"/>
          <p:cNvPicPr>
            <a:picLocks noChangeAspect="1"/>
          </p:cNvPicPr>
          <p:nvPr/>
        </p:nvPicPr>
        <p:blipFill>
          <a:blip r:embed="rId4"/>
          <a:stretch>
            <a:fillRect/>
          </a:stretch>
        </p:blipFill>
        <p:spPr>
          <a:xfrm>
            <a:off x="4911242" y="2605583"/>
            <a:ext cx="357530" cy="357530"/>
          </a:xfrm>
          <a:prstGeom prst="rect">
            <a:avLst/>
          </a:prstGeom>
        </p:spPr>
      </p:pic>
      <p:sp>
        <p:nvSpPr>
          <p:cNvPr id="11" name="Text 7"/>
          <p:cNvSpPr/>
          <p:nvPr/>
        </p:nvSpPr>
        <p:spPr>
          <a:xfrm>
            <a:off x="5661508" y="2011680"/>
            <a:ext cx="1965960" cy="17373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DSP</a:t>
            </a:r>
            <a:endParaRPr lang="en-US" sz="1700" dirty="0"/>
          </a:p>
        </p:txBody>
      </p:sp>
      <p:sp>
        <p:nvSpPr>
          <p:cNvPr id="12" name="Shape 8"/>
          <p:cNvSpPr/>
          <p:nvPr/>
        </p:nvSpPr>
        <p:spPr>
          <a:xfrm>
            <a:off x="8130388" y="2011680"/>
            <a:ext cx="3429000" cy="1737360"/>
          </a:xfrm>
          <a:prstGeom prst="roundRect">
            <a:avLst>
              <a:gd name="adj" fmla="val 4211"/>
            </a:avLst>
          </a:prstGeom>
          <a:solidFill>
            <a:srgbClr val="0F3460"/>
          </a:solidFill>
          <a:ln/>
        </p:spPr>
      </p:sp>
      <p:sp>
        <p:nvSpPr>
          <p:cNvPr id="13" name="Shape 9"/>
          <p:cNvSpPr/>
          <p:nvPr/>
        </p:nvSpPr>
        <p:spPr>
          <a:xfrm>
            <a:off x="8450428" y="2395728"/>
            <a:ext cx="777240" cy="777240"/>
          </a:xfrm>
          <a:prstGeom prst="ellipse">
            <a:avLst/>
          </a:prstGeom>
          <a:solidFill>
            <a:srgbClr val="1C7293"/>
          </a:solidFill>
          <a:ln/>
        </p:spPr>
      </p:sp>
      <p:pic>
        <p:nvPicPr>
          <p:cNvPr id="14" name="Image 2" descr="icons/FaLayerGroup_white.png"/>
          <p:cNvPicPr>
            <a:picLocks noChangeAspect="1"/>
          </p:cNvPicPr>
          <p:nvPr/>
        </p:nvPicPr>
        <p:blipFill>
          <a:blip r:embed="rId5"/>
          <a:stretch>
            <a:fillRect/>
          </a:stretch>
        </p:blipFill>
        <p:spPr>
          <a:xfrm>
            <a:off x="8660282" y="2605583"/>
            <a:ext cx="357530" cy="357530"/>
          </a:xfrm>
          <a:prstGeom prst="rect">
            <a:avLst/>
          </a:prstGeom>
        </p:spPr>
      </p:pic>
      <p:sp>
        <p:nvSpPr>
          <p:cNvPr id="15" name="Text 10"/>
          <p:cNvSpPr/>
          <p:nvPr/>
        </p:nvSpPr>
        <p:spPr>
          <a:xfrm>
            <a:off x="9410548" y="2011680"/>
            <a:ext cx="1965960" cy="17373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OFDM</a:t>
            </a:r>
            <a:endParaRPr lang="en-US" sz="1700" dirty="0"/>
          </a:p>
        </p:txBody>
      </p:sp>
      <p:sp>
        <p:nvSpPr>
          <p:cNvPr id="16" name="Shape 11"/>
          <p:cNvSpPr/>
          <p:nvPr/>
        </p:nvSpPr>
        <p:spPr>
          <a:xfrm>
            <a:off x="632308" y="4114800"/>
            <a:ext cx="3429000" cy="1737360"/>
          </a:xfrm>
          <a:prstGeom prst="roundRect">
            <a:avLst>
              <a:gd name="adj" fmla="val 4211"/>
            </a:avLst>
          </a:prstGeom>
          <a:solidFill>
            <a:srgbClr val="0F3460"/>
          </a:solidFill>
          <a:ln/>
        </p:spPr>
      </p:sp>
      <p:sp>
        <p:nvSpPr>
          <p:cNvPr id="17" name="Shape 12"/>
          <p:cNvSpPr/>
          <p:nvPr/>
        </p:nvSpPr>
        <p:spPr>
          <a:xfrm>
            <a:off x="952348" y="4498848"/>
            <a:ext cx="777240" cy="777240"/>
          </a:xfrm>
          <a:prstGeom prst="ellipse">
            <a:avLst/>
          </a:prstGeom>
          <a:solidFill>
            <a:srgbClr val="1C7293"/>
          </a:solidFill>
          <a:ln/>
        </p:spPr>
      </p:sp>
      <p:pic>
        <p:nvPicPr>
          <p:cNvPr id="18" name="Image 3" descr="icons/FaProjectDiagram_white.png"/>
          <p:cNvPicPr>
            <a:picLocks noChangeAspect="1"/>
          </p:cNvPicPr>
          <p:nvPr/>
        </p:nvPicPr>
        <p:blipFill>
          <a:blip r:embed="rId6"/>
          <a:stretch>
            <a:fillRect/>
          </a:stretch>
        </p:blipFill>
        <p:spPr>
          <a:xfrm>
            <a:off x="1162202" y="4708703"/>
            <a:ext cx="357530" cy="357530"/>
          </a:xfrm>
          <a:prstGeom prst="rect">
            <a:avLst/>
          </a:prstGeom>
        </p:spPr>
      </p:pic>
      <p:sp>
        <p:nvSpPr>
          <p:cNvPr id="19" name="Text 13"/>
          <p:cNvSpPr/>
          <p:nvPr/>
        </p:nvSpPr>
        <p:spPr>
          <a:xfrm>
            <a:off x="1912468" y="4114800"/>
            <a:ext cx="1965960" cy="17373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MC-CDMA</a:t>
            </a:r>
            <a:endParaRPr lang="en-US" sz="1700" dirty="0"/>
          </a:p>
        </p:txBody>
      </p:sp>
      <p:sp>
        <p:nvSpPr>
          <p:cNvPr id="20" name="Shape 14"/>
          <p:cNvSpPr/>
          <p:nvPr/>
        </p:nvSpPr>
        <p:spPr>
          <a:xfrm>
            <a:off x="4381348" y="4114800"/>
            <a:ext cx="3429000" cy="1737360"/>
          </a:xfrm>
          <a:prstGeom prst="roundRect">
            <a:avLst>
              <a:gd name="adj" fmla="val 4211"/>
            </a:avLst>
          </a:prstGeom>
          <a:solidFill>
            <a:srgbClr val="0F3460"/>
          </a:solidFill>
          <a:ln/>
        </p:spPr>
      </p:sp>
      <p:sp>
        <p:nvSpPr>
          <p:cNvPr id="21" name="Shape 15"/>
          <p:cNvSpPr/>
          <p:nvPr/>
        </p:nvSpPr>
        <p:spPr>
          <a:xfrm>
            <a:off x="4701388" y="4498848"/>
            <a:ext cx="777240" cy="777240"/>
          </a:xfrm>
          <a:prstGeom prst="ellipse">
            <a:avLst/>
          </a:prstGeom>
          <a:solidFill>
            <a:srgbClr val="1C7293"/>
          </a:solidFill>
          <a:ln/>
        </p:spPr>
      </p:sp>
      <p:pic>
        <p:nvPicPr>
          <p:cNvPr id="22" name="Image 4" descr="icons/FaShieldAlt_white.png"/>
          <p:cNvPicPr>
            <a:picLocks noChangeAspect="1"/>
          </p:cNvPicPr>
          <p:nvPr/>
        </p:nvPicPr>
        <p:blipFill>
          <a:blip r:embed="rId7"/>
          <a:stretch>
            <a:fillRect/>
          </a:stretch>
        </p:blipFill>
        <p:spPr>
          <a:xfrm>
            <a:off x="4911242" y="4708703"/>
            <a:ext cx="357530" cy="357530"/>
          </a:xfrm>
          <a:prstGeom prst="rect">
            <a:avLst/>
          </a:prstGeom>
        </p:spPr>
      </p:pic>
      <p:sp>
        <p:nvSpPr>
          <p:cNvPr id="23" name="Text 16"/>
          <p:cNvSpPr/>
          <p:nvPr/>
        </p:nvSpPr>
        <p:spPr>
          <a:xfrm>
            <a:off x="5661508" y="4114800"/>
            <a:ext cx="1965960" cy="17373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FEC</a:t>
            </a:r>
            <a:endParaRPr lang="en-US" sz="1700" dirty="0"/>
          </a:p>
        </p:txBody>
      </p:sp>
      <p:sp>
        <p:nvSpPr>
          <p:cNvPr id="24" name="Shape 17"/>
          <p:cNvSpPr/>
          <p:nvPr/>
        </p:nvSpPr>
        <p:spPr>
          <a:xfrm>
            <a:off x="8130388" y="4114800"/>
            <a:ext cx="3429000" cy="1737360"/>
          </a:xfrm>
          <a:prstGeom prst="roundRect">
            <a:avLst>
              <a:gd name="adj" fmla="val 4211"/>
            </a:avLst>
          </a:prstGeom>
          <a:solidFill>
            <a:srgbClr val="0F3460"/>
          </a:solidFill>
          <a:ln/>
        </p:spPr>
      </p:sp>
      <p:sp>
        <p:nvSpPr>
          <p:cNvPr id="25" name="Shape 18"/>
          <p:cNvSpPr/>
          <p:nvPr/>
        </p:nvSpPr>
        <p:spPr>
          <a:xfrm>
            <a:off x="8450428" y="4498848"/>
            <a:ext cx="777240" cy="777240"/>
          </a:xfrm>
          <a:prstGeom prst="ellipse">
            <a:avLst/>
          </a:prstGeom>
          <a:solidFill>
            <a:srgbClr val="1C7293"/>
          </a:solidFill>
          <a:ln/>
        </p:spPr>
      </p:sp>
      <p:pic>
        <p:nvPicPr>
          <p:cNvPr id="26" name="Image 5" descr="icons/FaSatelliteDish_white.png"/>
          <p:cNvPicPr>
            <a:picLocks noChangeAspect="1"/>
          </p:cNvPicPr>
          <p:nvPr/>
        </p:nvPicPr>
        <p:blipFill>
          <a:blip r:embed="rId8"/>
          <a:stretch>
            <a:fillRect/>
          </a:stretch>
        </p:blipFill>
        <p:spPr>
          <a:xfrm>
            <a:off x="8660282" y="4708703"/>
            <a:ext cx="357530" cy="357530"/>
          </a:xfrm>
          <a:prstGeom prst="rect">
            <a:avLst/>
          </a:prstGeom>
        </p:spPr>
      </p:pic>
      <p:sp>
        <p:nvSpPr>
          <p:cNvPr id="27" name="Text 19"/>
          <p:cNvSpPr/>
          <p:nvPr/>
        </p:nvSpPr>
        <p:spPr>
          <a:xfrm>
            <a:off x="9410548" y="4114800"/>
            <a:ext cx="1965960" cy="17373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Wireless Comm.</a:t>
            </a:r>
            <a:endParaRPr lang="en-US" sz="1700" dirty="0"/>
          </a:p>
        </p:txBody>
      </p:sp>
      <p:sp>
        <p:nvSpPr>
          <p:cNvPr id="28" name="Text 20"/>
          <p:cNvSpPr/>
          <p:nvPr/>
        </p:nvSpPr>
        <p:spPr>
          <a:xfrm>
            <a:off x="548640" y="6355080"/>
            <a:ext cx="4572000" cy="320040"/>
          </a:xfrm>
          <a:prstGeom prst="rect">
            <a:avLst/>
          </a:prstGeom>
          <a:noFill/>
          <a:ln/>
        </p:spPr>
        <p:txBody>
          <a:bodyPr wrap="square" lIns="0" tIns="0" rIns="0" bIns="0" rtlCol="0" anchor="ctr"/>
          <a:lstStyle/>
          <a:p>
            <a:pPr marL="0" indent="0">
              <a:buNone/>
            </a:pPr>
            <a:r>
              <a:rPr lang="en-US" sz="950" kern="0" spc="150" dirty="0">
                <a:solidFill>
                  <a:srgbClr val="8FA8C2"/>
                </a:solidFill>
                <a:latin typeface="Calibri" pitchFamily="34" charset="0"/>
                <a:ea typeface="Calibri" pitchFamily="34" charset="-122"/>
                <a:cs typeface="Calibri" pitchFamily="34" charset="-120"/>
              </a:rPr>
              <a:t>MC-CDMA  •  OFDM SIMULATION</a:t>
            </a:r>
            <a:endParaRPr lang="en-US" sz="950" dirty="0"/>
          </a:p>
        </p:txBody>
      </p:sp>
      <p:sp>
        <p:nvSpPr>
          <p:cNvPr id="29" name="Text 21"/>
          <p:cNvSpPr/>
          <p:nvPr/>
        </p:nvSpPr>
        <p:spPr>
          <a:xfrm>
            <a:off x="11368735" y="6355080"/>
            <a:ext cx="548640" cy="320040"/>
          </a:xfrm>
          <a:prstGeom prst="rect">
            <a:avLst/>
          </a:prstGeom>
          <a:noFill/>
          <a:ln/>
        </p:spPr>
        <p:txBody>
          <a:bodyPr wrap="square" lIns="0" tIns="0" rIns="0" bIns="0" rtlCol="0" anchor="ctr"/>
          <a:lstStyle/>
          <a:p>
            <a:pPr marL="0" indent="0" algn="r">
              <a:buNone/>
            </a:pPr>
            <a:r>
              <a:rPr lang="en-US" sz="1000" dirty="0">
                <a:solidFill>
                  <a:srgbClr val="5C7A9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IMPACT</a:t>
            </a:r>
            <a:endParaRPr lang="en-US" sz="1300" dirty="0"/>
          </a:p>
        </p:txBody>
      </p:sp>
      <p:sp>
        <p:nvSpPr>
          <p:cNvPr id="3" name="Text 1"/>
          <p:cNvSpPr/>
          <p:nvPr/>
        </p:nvSpPr>
        <p:spPr>
          <a:xfrm>
            <a:off x="548640" y="749808"/>
            <a:ext cx="9601200" cy="822960"/>
          </a:xfrm>
          <a:prstGeom prst="rect">
            <a:avLst/>
          </a:prstGeom>
          <a:noFill/>
          <a:ln/>
        </p:spPr>
        <p:txBody>
          <a:bodyPr wrap="square" lIns="0" tIns="0" rIns="0" bIns="0" rtlCol="0" anchor="ctr"/>
          <a:lstStyle/>
          <a:p>
            <a:pPr marL="0" indent="0">
              <a:buNone/>
            </a:pPr>
            <a:r>
              <a:rPr lang="en-US" sz="3200" b="1" dirty="0">
                <a:solidFill>
                  <a:srgbClr val="0A2647"/>
                </a:solidFill>
                <a:latin typeface="Cambria" pitchFamily="34" charset="0"/>
                <a:ea typeface="Cambria" pitchFamily="34" charset="-122"/>
                <a:cs typeface="Cambria" pitchFamily="34" charset="-120"/>
              </a:rPr>
              <a:t>Applications</a:t>
            </a:r>
            <a:endParaRPr lang="en-US" sz="3200" dirty="0"/>
          </a:p>
        </p:txBody>
      </p:sp>
      <p:sp>
        <p:nvSpPr>
          <p:cNvPr id="4" name="Shape 2"/>
          <p:cNvSpPr/>
          <p:nvPr/>
        </p:nvSpPr>
        <p:spPr>
          <a:xfrm>
            <a:off x="548640" y="1828800"/>
            <a:ext cx="5212080" cy="1645920"/>
          </a:xfrm>
          <a:prstGeom prst="roundRect">
            <a:avLst>
              <a:gd name="adj" fmla="val 4444"/>
            </a:avLst>
          </a:prstGeom>
          <a:solidFill>
            <a:srgbClr val="FFFFFF"/>
          </a:solidFill>
          <a:ln/>
          <a:effectLst>
            <a:outerShdw blurRad="101600" dist="38100" dir="2700000" algn="bl" rotWithShape="0">
              <a:srgbClr val="0A2647">
                <a:alpha val="12000"/>
              </a:srgbClr>
            </a:outerShdw>
          </a:effectLst>
        </p:spPr>
      </p:sp>
      <p:sp>
        <p:nvSpPr>
          <p:cNvPr id="5" name="Shape 3"/>
          <p:cNvSpPr/>
          <p:nvPr/>
        </p:nvSpPr>
        <p:spPr>
          <a:xfrm>
            <a:off x="822960" y="2121408"/>
            <a:ext cx="685800" cy="685800"/>
          </a:xfrm>
          <a:prstGeom prst="ellipse">
            <a:avLst/>
          </a:prstGeom>
          <a:solidFill>
            <a:srgbClr val="0A2647"/>
          </a:solidFill>
          <a:ln/>
        </p:spPr>
      </p:sp>
      <p:pic>
        <p:nvPicPr>
          <p:cNvPr id="6" name="Image 0" descr="icons/FaMobileAlt_amber.png"/>
          <p:cNvPicPr>
            <a:picLocks noChangeAspect="1"/>
          </p:cNvPicPr>
          <p:nvPr/>
        </p:nvPicPr>
        <p:blipFill>
          <a:blip r:embed="rId3"/>
          <a:stretch>
            <a:fillRect/>
          </a:stretch>
        </p:blipFill>
        <p:spPr>
          <a:xfrm>
            <a:off x="1008126" y="2306574"/>
            <a:ext cx="315468" cy="315468"/>
          </a:xfrm>
          <a:prstGeom prst="rect">
            <a:avLst/>
          </a:prstGeom>
        </p:spPr>
      </p:pic>
      <p:sp>
        <p:nvSpPr>
          <p:cNvPr id="7" name="Text 4"/>
          <p:cNvSpPr/>
          <p:nvPr/>
        </p:nvSpPr>
        <p:spPr>
          <a:xfrm>
            <a:off x="1691640" y="2048256"/>
            <a:ext cx="3840480" cy="365760"/>
          </a:xfrm>
          <a:prstGeom prst="rect">
            <a:avLst/>
          </a:prstGeom>
          <a:noFill/>
          <a:ln/>
        </p:spPr>
        <p:txBody>
          <a:bodyPr wrap="square" lIns="0" tIns="0" rIns="0" bIns="0" rtlCol="0" anchor="ctr"/>
          <a:lstStyle/>
          <a:p>
            <a:pPr marL="0" indent="0">
              <a:buNone/>
            </a:pPr>
            <a:r>
              <a:rPr lang="en-US" sz="1550" b="1" dirty="0">
                <a:solidFill>
                  <a:srgbClr val="0A2647"/>
                </a:solidFill>
                <a:latin typeface="Cambria" pitchFamily="34" charset="0"/>
                <a:ea typeface="Cambria" pitchFamily="34" charset="-122"/>
                <a:cs typeface="Cambria" pitchFamily="34" charset="-120"/>
              </a:rPr>
              <a:t>4G / 5G Systems</a:t>
            </a:r>
            <a:endParaRPr lang="en-US" sz="1550" dirty="0"/>
          </a:p>
        </p:txBody>
      </p:sp>
      <p:sp>
        <p:nvSpPr>
          <p:cNvPr id="8" name="Text 5"/>
          <p:cNvSpPr/>
          <p:nvPr/>
        </p:nvSpPr>
        <p:spPr>
          <a:xfrm>
            <a:off x="1691640" y="2432304"/>
            <a:ext cx="3794760" cy="822960"/>
          </a:xfrm>
          <a:prstGeom prst="rect">
            <a:avLst/>
          </a:prstGeom>
          <a:noFill/>
          <a:ln/>
        </p:spPr>
        <p:txBody>
          <a:bodyPr wrap="square" lIns="0" tIns="0" rIns="0" bIns="0" rtlCol="0" anchor="ctr"/>
          <a:lstStyle/>
          <a:p>
            <a:pPr marL="0" indent="0">
              <a:lnSpc>
                <a:spcPct val="120000"/>
              </a:lnSpc>
              <a:buNone/>
            </a:pPr>
            <a:r>
              <a:rPr lang="en-US" sz="1150" dirty="0">
                <a:solidFill>
                  <a:srgbClr val="5C7A93"/>
                </a:solidFill>
                <a:latin typeface="Calibri" pitchFamily="34" charset="0"/>
                <a:ea typeface="Calibri" pitchFamily="34" charset="-122"/>
                <a:cs typeface="Calibri" pitchFamily="34" charset="-120"/>
              </a:rPr>
              <a:t>Multi-carrier spreading techniques underpin modern cellular waveform design.</a:t>
            </a:r>
            <a:endParaRPr lang="en-US" sz="1150" dirty="0"/>
          </a:p>
        </p:txBody>
      </p:sp>
      <p:sp>
        <p:nvSpPr>
          <p:cNvPr id="9" name="Shape 6"/>
          <p:cNvSpPr/>
          <p:nvPr/>
        </p:nvSpPr>
        <p:spPr>
          <a:xfrm>
            <a:off x="6217920" y="1828800"/>
            <a:ext cx="5212080" cy="1645920"/>
          </a:xfrm>
          <a:prstGeom prst="roundRect">
            <a:avLst>
              <a:gd name="adj" fmla="val 4444"/>
            </a:avLst>
          </a:prstGeom>
          <a:solidFill>
            <a:srgbClr val="FFFFFF"/>
          </a:solidFill>
          <a:ln/>
          <a:effectLst>
            <a:outerShdw blurRad="101600" dist="38100" dir="2700000" algn="bl" rotWithShape="0">
              <a:srgbClr val="0A2647">
                <a:alpha val="12000"/>
              </a:srgbClr>
            </a:outerShdw>
          </a:effectLst>
        </p:spPr>
      </p:sp>
      <p:sp>
        <p:nvSpPr>
          <p:cNvPr id="10" name="Shape 7"/>
          <p:cNvSpPr/>
          <p:nvPr/>
        </p:nvSpPr>
        <p:spPr>
          <a:xfrm>
            <a:off x="6492240" y="2121408"/>
            <a:ext cx="685800" cy="685800"/>
          </a:xfrm>
          <a:prstGeom prst="ellipse">
            <a:avLst/>
          </a:prstGeom>
          <a:solidFill>
            <a:srgbClr val="0A2647"/>
          </a:solidFill>
          <a:ln/>
        </p:spPr>
      </p:sp>
      <p:pic>
        <p:nvPicPr>
          <p:cNvPr id="11" name="Image 1" descr="icons/FaFlask_amber.png"/>
          <p:cNvPicPr>
            <a:picLocks noChangeAspect="1"/>
          </p:cNvPicPr>
          <p:nvPr/>
        </p:nvPicPr>
        <p:blipFill>
          <a:blip r:embed="rId4"/>
          <a:stretch>
            <a:fillRect/>
          </a:stretch>
        </p:blipFill>
        <p:spPr>
          <a:xfrm>
            <a:off x="6677406" y="2306574"/>
            <a:ext cx="315468" cy="315468"/>
          </a:xfrm>
          <a:prstGeom prst="rect">
            <a:avLst/>
          </a:prstGeom>
        </p:spPr>
      </p:pic>
      <p:sp>
        <p:nvSpPr>
          <p:cNvPr id="12" name="Text 8"/>
          <p:cNvSpPr/>
          <p:nvPr/>
        </p:nvSpPr>
        <p:spPr>
          <a:xfrm>
            <a:off x="7360920" y="2048256"/>
            <a:ext cx="3840480" cy="365760"/>
          </a:xfrm>
          <a:prstGeom prst="rect">
            <a:avLst/>
          </a:prstGeom>
          <a:noFill/>
          <a:ln/>
        </p:spPr>
        <p:txBody>
          <a:bodyPr wrap="square" lIns="0" tIns="0" rIns="0" bIns="0" rtlCol="0" anchor="ctr"/>
          <a:lstStyle/>
          <a:p>
            <a:pPr marL="0" indent="0">
              <a:buNone/>
            </a:pPr>
            <a:r>
              <a:rPr lang="en-US" sz="1550" b="1" dirty="0">
                <a:solidFill>
                  <a:srgbClr val="0A2647"/>
                </a:solidFill>
                <a:latin typeface="Cambria" pitchFamily="34" charset="0"/>
                <a:ea typeface="Cambria" pitchFamily="34" charset="-122"/>
                <a:cs typeface="Cambria" pitchFamily="34" charset="-120"/>
              </a:rPr>
              <a:t>Research</a:t>
            </a:r>
            <a:endParaRPr lang="en-US" sz="1550" dirty="0"/>
          </a:p>
        </p:txBody>
      </p:sp>
      <p:sp>
        <p:nvSpPr>
          <p:cNvPr id="13" name="Text 9"/>
          <p:cNvSpPr/>
          <p:nvPr/>
        </p:nvSpPr>
        <p:spPr>
          <a:xfrm>
            <a:off x="7360920" y="2432304"/>
            <a:ext cx="3794760" cy="822960"/>
          </a:xfrm>
          <a:prstGeom prst="rect">
            <a:avLst/>
          </a:prstGeom>
          <a:noFill/>
          <a:ln/>
        </p:spPr>
        <p:txBody>
          <a:bodyPr wrap="square" lIns="0" tIns="0" rIns="0" bIns="0" rtlCol="0" anchor="ctr"/>
          <a:lstStyle/>
          <a:p>
            <a:pPr marL="0" indent="0">
              <a:lnSpc>
                <a:spcPct val="120000"/>
              </a:lnSpc>
              <a:buNone/>
            </a:pPr>
            <a:r>
              <a:rPr lang="en-US" sz="1150" dirty="0">
                <a:solidFill>
                  <a:srgbClr val="5C7A93"/>
                </a:solidFill>
                <a:latin typeface="Calibri" pitchFamily="34" charset="0"/>
                <a:ea typeface="Calibri" pitchFamily="34" charset="-122"/>
                <a:cs typeface="Calibri" pitchFamily="34" charset="-120"/>
              </a:rPr>
              <a:t>A flexible testbed for studying spreading codes, channel estimation, and coding gains.</a:t>
            </a:r>
            <a:endParaRPr lang="en-US" sz="1150" dirty="0"/>
          </a:p>
        </p:txBody>
      </p:sp>
      <p:sp>
        <p:nvSpPr>
          <p:cNvPr id="14" name="Shape 10"/>
          <p:cNvSpPr/>
          <p:nvPr/>
        </p:nvSpPr>
        <p:spPr>
          <a:xfrm>
            <a:off x="548640" y="3794760"/>
            <a:ext cx="5212080" cy="1645920"/>
          </a:xfrm>
          <a:prstGeom prst="roundRect">
            <a:avLst>
              <a:gd name="adj" fmla="val 4444"/>
            </a:avLst>
          </a:prstGeom>
          <a:solidFill>
            <a:srgbClr val="FFFFFF"/>
          </a:solidFill>
          <a:ln/>
          <a:effectLst>
            <a:outerShdw blurRad="101600" dist="38100" dir="2700000" algn="bl" rotWithShape="0">
              <a:srgbClr val="0A2647">
                <a:alpha val="12000"/>
              </a:srgbClr>
            </a:outerShdw>
          </a:effectLst>
        </p:spPr>
      </p:sp>
      <p:sp>
        <p:nvSpPr>
          <p:cNvPr id="15" name="Shape 11"/>
          <p:cNvSpPr/>
          <p:nvPr/>
        </p:nvSpPr>
        <p:spPr>
          <a:xfrm>
            <a:off x="822960" y="4087368"/>
            <a:ext cx="685800" cy="685800"/>
          </a:xfrm>
          <a:prstGeom prst="ellipse">
            <a:avLst/>
          </a:prstGeom>
          <a:solidFill>
            <a:srgbClr val="0A2647"/>
          </a:solidFill>
          <a:ln/>
        </p:spPr>
      </p:sp>
      <p:pic>
        <p:nvPicPr>
          <p:cNvPr id="16" name="Image 2" descr="icons/FaGraduationCap_amber.png"/>
          <p:cNvPicPr>
            <a:picLocks noChangeAspect="1"/>
          </p:cNvPicPr>
          <p:nvPr/>
        </p:nvPicPr>
        <p:blipFill>
          <a:blip r:embed="rId5"/>
          <a:stretch>
            <a:fillRect/>
          </a:stretch>
        </p:blipFill>
        <p:spPr>
          <a:xfrm>
            <a:off x="1008126" y="4272534"/>
            <a:ext cx="315468" cy="315468"/>
          </a:xfrm>
          <a:prstGeom prst="rect">
            <a:avLst/>
          </a:prstGeom>
        </p:spPr>
      </p:pic>
      <p:sp>
        <p:nvSpPr>
          <p:cNvPr id="17" name="Text 12"/>
          <p:cNvSpPr/>
          <p:nvPr/>
        </p:nvSpPr>
        <p:spPr>
          <a:xfrm>
            <a:off x="1691640" y="4014216"/>
            <a:ext cx="3840480" cy="365760"/>
          </a:xfrm>
          <a:prstGeom prst="rect">
            <a:avLst/>
          </a:prstGeom>
          <a:noFill/>
          <a:ln/>
        </p:spPr>
        <p:txBody>
          <a:bodyPr wrap="square" lIns="0" tIns="0" rIns="0" bIns="0" rtlCol="0" anchor="ctr"/>
          <a:lstStyle/>
          <a:p>
            <a:pPr marL="0" indent="0">
              <a:buNone/>
            </a:pPr>
            <a:r>
              <a:rPr lang="en-US" sz="1550" b="1" dirty="0">
                <a:solidFill>
                  <a:srgbClr val="0A2647"/>
                </a:solidFill>
                <a:latin typeface="Cambria" pitchFamily="34" charset="0"/>
                <a:ea typeface="Cambria" pitchFamily="34" charset="-122"/>
                <a:cs typeface="Cambria" pitchFamily="34" charset="-120"/>
              </a:rPr>
              <a:t>Education</a:t>
            </a:r>
            <a:endParaRPr lang="en-US" sz="1550" dirty="0"/>
          </a:p>
        </p:txBody>
      </p:sp>
      <p:sp>
        <p:nvSpPr>
          <p:cNvPr id="18" name="Text 13"/>
          <p:cNvSpPr/>
          <p:nvPr/>
        </p:nvSpPr>
        <p:spPr>
          <a:xfrm>
            <a:off x="1691640" y="4398264"/>
            <a:ext cx="3794760" cy="822960"/>
          </a:xfrm>
          <a:prstGeom prst="rect">
            <a:avLst/>
          </a:prstGeom>
          <a:noFill/>
          <a:ln/>
        </p:spPr>
        <p:txBody>
          <a:bodyPr wrap="square" lIns="0" tIns="0" rIns="0" bIns="0" rtlCol="0" anchor="ctr"/>
          <a:lstStyle/>
          <a:p>
            <a:pPr marL="0" indent="0">
              <a:lnSpc>
                <a:spcPct val="120000"/>
              </a:lnSpc>
              <a:buNone/>
            </a:pPr>
            <a:r>
              <a:rPr lang="en-US" sz="1150" dirty="0">
                <a:solidFill>
                  <a:srgbClr val="5C7A93"/>
                </a:solidFill>
                <a:latin typeface="Calibri" pitchFamily="34" charset="0"/>
                <a:ea typeface="Calibri" pitchFamily="34" charset="-122"/>
                <a:cs typeface="Calibri" pitchFamily="34" charset="-120"/>
              </a:rPr>
              <a:t>Hands-on illustration of OFDM and CDMA concepts taught in communications courses.</a:t>
            </a:r>
            <a:endParaRPr lang="en-US" sz="1150" dirty="0"/>
          </a:p>
        </p:txBody>
      </p:sp>
      <p:sp>
        <p:nvSpPr>
          <p:cNvPr id="19" name="Shape 14"/>
          <p:cNvSpPr/>
          <p:nvPr/>
        </p:nvSpPr>
        <p:spPr>
          <a:xfrm>
            <a:off x="6217920" y="3794760"/>
            <a:ext cx="5212080" cy="1645920"/>
          </a:xfrm>
          <a:prstGeom prst="roundRect">
            <a:avLst>
              <a:gd name="adj" fmla="val 4444"/>
            </a:avLst>
          </a:prstGeom>
          <a:solidFill>
            <a:srgbClr val="FFFFFF"/>
          </a:solidFill>
          <a:ln/>
          <a:effectLst>
            <a:outerShdw blurRad="101600" dist="38100" dir="2700000" algn="bl" rotWithShape="0">
              <a:srgbClr val="0A2647">
                <a:alpha val="12000"/>
              </a:srgbClr>
            </a:outerShdw>
          </a:effectLst>
        </p:spPr>
      </p:sp>
      <p:sp>
        <p:nvSpPr>
          <p:cNvPr id="20" name="Shape 15"/>
          <p:cNvSpPr/>
          <p:nvPr/>
        </p:nvSpPr>
        <p:spPr>
          <a:xfrm>
            <a:off x="6492240" y="4087368"/>
            <a:ext cx="685800" cy="685800"/>
          </a:xfrm>
          <a:prstGeom prst="ellipse">
            <a:avLst/>
          </a:prstGeom>
          <a:solidFill>
            <a:srgbClr val="0A2647"/>
          </a:solidFill>
          <a:ln/>
        </p:spPr>
      </p:sp>
      <p:pic>
        <p:nvPicPr>
          <p:cNvPr id="21" name="Image 3" descr="icons/FaNetworkWired_amber.png"/>
          <p:cNvPicPr>
            <a:picLocks noChangeAspect="1"/>
          </p:cNvPicPr>
          <p:nvPr/>
        </p:nvPicPr>
        <p:blipFill>
          <a:blip r:embed="rId6"/>
          <a:stretch>
            <a:fillRect/>
          </a:stretch>
        </p:blipFill>
        <p:spPr>
          <a:xfrm>
            <a:off x="6677406" y="4272534"/>
            <a:ext cx="315468" cy="315468"/>
          </a:xfrm>
          <a:prstGeom prst="rect">
            <a:avLst/>
          </a:prstGeom>
        </p:spPr>
      </p:pic>
      <p:sp>
        <p:nvSpPr>
          <p:cNvPr id="22" name="Text 16"/>
          <p:cNvSpPr/>
          <p:nvPr/>
        </p:nvSpPr>
        <p:spPr>
          <a:xfrm>
            <a:off x="7360920" y="4014216"/>
            <a:ext cx="3840480" cy="365760"/>
          </a:xfrm>
          <a:prstGeom prst="rect">
            <a:avLst/>
          </a:prstGeom>
          <a:noFill/>
          <a:ln/>
        </p:spPr>
        <p:txBody>
          <a:bodyPr wrap="square" lIns="0" tIns="0" rIns="0" bIns="0" rtlCol="0" anchor="ctr"/>
          <a:lstStyle/>
          <a:p>
            <a:pPr marL="0" indent="0">
              <a:buNone/>
            </a:pPr>
            <a:r>
              <a:rPr lang="en-US" sz="1550" b="1" dirty="0">
                <a:solidFill>
                  <a:srgbClr val="0A2647"/>
                </a:solidFill>
                <a:latin typeface="Cambria" pitchFamily="34" charset="0"/>
                <a:ea typeface="Cambria" pitchFamily="34" charset="-122"/>
                <a:cs typeface="Cambria" pitchFamily="34" charset="-120"/>
              </a:rPr>
              <a:t>Wireless Comm. Design</a:t>
            </a:r>
            <a:endParaRPr lang="en-US" sz="1550" dirty="0"/>
          </a:p>
        </p:txBody>
      </p:sp>
      <p:sp>
        <p:nvSpPr>
          <p:cNvPr id="23" name="Text 17"/>
          <p:cNvSpPr/>
          <p:nvPr/>
        </p:nvSpPr>
        <p:spPr>
          <a:xfrm>
            <a:off x="7360920" y="4398264"/>
            <a:ext cx="3794760" cy="822960"/>
          </a:xfrm>
          <a:prstGeom prst="rect">
            <a:avLst/>
          </a:prstGeom>
          <a:noFill/>
          <a:ln/>
        </p:spPr>
        <p:txBody>
          <a:bodyPr wrap="square" lIns="0" tIns="0" rIns="0" bIns="0" rtlCol="0" anchor="ctr"/>
          <a:lstStyle/>
          <a:p>
            <a:pPr marL="0" indent="0">
              <a:lnSpc>
                <a:spcPct val="120000"/>
              </a:lnSpc>
              <a:buNone/>
            </a:pPr>
            <a:r>
              <a:rPr lang="en-US" sz="1150" dirty="0">
                <a:solidFill>
                  <a:srgbClr val="5C7A93"/>
                </a:solidFill>
                <a:latin typeface="Calibri" pitchFamily="34" charset="0"/>
                <a:ea typeface="Calibri" pitchFamily="34" charset="-122"/>
                <a:cs typeface="Calibri" pitchFamily="34" charset="-120"/>
              </a:rPr>
              <a:t>A reference architecture for prototyping and benchmarking new transceiver designs.</a:t>
            </a:r>
            <a:endParaRPr lang="en-US" sz="1150" dirty="0"/>
          </a:p>
        </p:txBody>
      </p:sp>
      <p:sp>
        <p:nvSpPr>
          <p:cNvPr id="24" name="Text 18"/>
          <p:cNvSpPr/>
          <p:nvPr/>
        </p:nvSpPr>
        <p:spPr>
          <a:xfrm>
            <a:off x="548640" y="6355080"/>
            <a:ext cx="4572000" cy="320040"/>
          </a:xfrm>
          <a:prstGeom prst="rect">
            <a:avLst/>
          </a:prstGeom>
          <a:noFill/>
          <a:ln/>
        </p:spPr>
        <p:txBody>
          <a:bodyPr wrap="square" lIns="0" tIns="0" rIns="0" bIns="0" rtlCol="0" anchor="ctr"/>
          <a:lstStyle/>
          <a:p>
            <a:pPr marL="0" indent="0">
              <a:buNone/>
            </a:pPr>
            <a:r>
              <a:rPr lang="en-US" sz="950" kern="0" spc="150" dirty="0">
                <a:solidFill>
                  <a:srgbClr val="5C7A93"/>
                </a:solidFill>
                <a:latin typeface="Calibri" pitchFamily="34" charset="0"/>
                <a:ea typeface="Calibri" pitchFamily="34" charset="-122"/>
                <a:cs typeface="Calibri" pitchFamily="34" charset="-120"/>
              </a:rPr>
              <a:t>MC-CDMA  •  OFDM SIMULATION</a:t>
            </a:r>
            <a:endParaRPr lang="en-US" sz="950" dirty="0"/>
          </a:p>
        </p:txBody>
      </p:sp>
      <p:sp>
        <p:nvSpPr>
          <p:cNvPr id="25" name="Text 19"/>
          <p:cNvSpPr/>
          <p:nvPr/>
        </p:nvSpPr>
        <p:spPr>
          <a:xfrm>
            <a:off x="11368735" y="6355080"/>
            <a:ext cx="548640" cy="320040"/>
          </a:xfrm>
          <a:prstGeom prst="rect">
            <a:avLst/>
          </a:prstGeom>
          <a:noFill/>
          <a:ln/>
        </p:spPr>
        <p:txBody>
          <a:bodyPr wrap="square" lIns="0" tIns="0" rIns="0" bIns="0" rtlCol="0" anchor="ctr"/>
          <a:lstStyle/>
          <a:p>
            <a:pPr marL="0" indent="0" algn="r">
              <a:buNone/>
            </a:pPr>
            <a:r>
              <a:rPr lang="en-US" sz="1000" dirty="0">
                <a:solidFill>
                  <a:srgbClr val="5C7A9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647"/>
        </a:solidFill>
        <a:effectLst/>
      </p:bgPr>
    </p:bg>
    <p:spTree>
      <p:nvGrpSpPr>
        <p:cNvPr id="1" name=""/>
        <p:cNvGrpSpPr/>
        <p:nvPr/>
      </p:nvGrpSpPr>
      <p:grpSpPr>
        <a:xfrm>
          <a:off x="0" y="0"/>
          <a:ext cx="0" cy="0"/>
          <a:chOff x="0" y="0"/>
          <a:chExt cx="0" cy="0"/>
        </a:xfrm>
      </p:grpSpPr>
      <p:sp>
        <p:nvSpPr>
          <p:cNvPr id="2" name="Shape 0"/>
          <p:cNvSpPr/>
          <p:nvPr/>
        </p:nvSpPr>
        <p:spPr>
          <a:xfrm>
            <a:off x="-91440" y="-91440"/>
            <a:ext cx="2011680" cy="2011680"/>
          </a:xfrm>
          <a:prstGeom prst="ellipse">
            <a:avLst/>
          </a:prstGeom>
          <a:ln w="15240">
            <a:solidFill>
              <a:srgbClr val="1C7293">
                <a:alpha val="40000"/>
              </a:srgbClr>
            </a:solidFill>
            <a:prstDash val="solid"/>
          </a:ln>
        </p:spPr>
      </p:sp>
      <p:sp>
        <p:nvSpPr>
          <p:cNvPr id="3" name="Shape 1"/>
          <p:cNvSpPr/>
          <p:nvPr/>
        </p:nvSpPr>
        <p:spPr>
          <a:xfrm>
            <a:off x="-617220" y="-617220"/>
            <a:ext cx="3063240" cy="3063240"/>
          </a:xfrm>
          <a:prstGeom prst="ellipse">
            <a:avLst/>
          </a:prstGeom>
          <a:ln w="15240">
            <a:solidFill>
              <a:srgbClr val="1C7293">
                <a:alpha val="35000"/>
              </a:srgbClr>
            </a:solidFill>
            <a:prstDash val="solid"/>
          </a:ln>
        </p:spPr>
      </p:sp>
      <p:sp>
        <p:nvSpPr>
          <p:cNvPr id="4" name="Shape 2"/>
          <p:cNvSpPr/>
          <p:nvPr/>
        </p:nvSpPr>
        <p:spPr>
          <a:xfrm>
            <a:off x="-1143000" y="-1143000"/>
            <a:ext cx="4114800" cy="4114800"/>
          </a:xfrm>
          <a:prstGeom prst="ellipse">
            <a:avLst/>
          </a:prstGeom>
          <a:ln w="15240">
            <a:solidFill>
              <a:srgbClr val="1C7293">
                <a:alpha val="30000"/>
              </a:srgbClr>
            </a:solidFill>
            <a:prstDash val="solid"/>
          </a:ln>
        </p:spPr>
      </p:sp>
      <p:sp>
        <p:nvSpPr>
          <p:cNvPr id="5" name="Shape 3"/>
          <p:cNvSpPr/>
          <p:nvPr/>
        </p:nvSpPr>
        <p:spPr>
          <a:xfrm>
            <a:off x="-1668780" y="-1668780"/>
            <a:ext cx="5166360" cy="5166360"/>
          </a:xfrm>
          <a:prstGeom prst="ellipse">
            <a:avLst/>
          </a:prstGeom>
          <a:ln w="15240">
            <a:solidFill>
              <a:srgbClr val="1C7293">
                <a:alpha val="25000"/>
              </a:srgbClr>
            </a:solidFill>
            <a:prstDash val="solid"/>
          </a:ln>
        </p:spPr>
      </p:sp>
      <p:sp>
        <p:nvSpPr>
          <p:cNvPr id="6" name="Shape 4"/>
          <p:cNvSpPr/>
          <p:nvPr/>
        </p:nvSpPr>
        <p:spPr>
          <a:xfrm>
            <a:off x="-2194560" y="-2194560"/>
            <a:ext cx="6217920" cy="6217920"/>
          </a:xfrm>
          <a:prstGeom prst="ellipse">
            <a:avLst/>
          </a:prstGeom>
          <a:ln w="15240">
            <a:solidFill>
              <a:srgbClr val="1C7293">
                <a:alpha val="20000"/>
              </a:srgbClr>
            </a:solidFill>
            <a:prstDash val="solid"/>
          </a:ln>
        </p:spPr>
      </p:sp>
      <p:sp>
        <p:nvSpPr>
          <p:cNvPr id="7" name="Text 5"/>
          <p:cNvSpPr/>
          <p:nvPr/>
        </p:nvSpPr>
        <p:spPr>
          <a:xfrm>
            <a:off x="822960" y="2468880"/>
            <a:ext cx="10515600" cy="10972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8" name="Shape 6"/>
          <p:cNvSpPr/>
          <p:nvPr/>
        </p:nvSpPr>
        <p:spPr>
          <a:xfrm>
            <a:off x="841248" y="3611880"/>
            <a:ext cx="1280160" cy="0"/>
          </a:xfrm>
          <a:prstGeom prst="line">
            <a:avLst/>
          </a:prstGeom>
          <a:noFill/>
          <a:ln w="38100">
            <a:solidFill>
              <a:srgbClr val="F2A341"/>
            </a:solidFill>
            <a:prstDash val="solid"/>
          </a:ln>
        </p:spPr>
      </p:sp>
      <p:sp>
        <p:nvSpPr>
          <p:cNvPr id="9" name="Text 7"/>
          <p:cNvSpPr/>
          <p:nvPr/>
        </p:nvSpPr>
        <p:spPr>
          <a:xfrm>
            <a:off x="822960" y="3794760"/>
            <a:ext cx="7315200" cy="548640"/>
          </a:xfrm>
          <a:prstGeom prst="rect">
            <a:avLst/>
          </a:prstGeom>
          <a:noFill/>
          <a:ln/>
        </p:spPr>
        <p:txBody>
          <a:bodyPr wrap="square" lIns="0" tIns="0" rIns="0" bIns="0" rtlCol="0" anchor="ctr"/>
          <a:lstStyle/>
          <a:p>
            <a:pPr marL="0" indent="0">
              <a:buNone/>
            </a:pPr>
            <a:endParaRPr lang="en-US" sz="2000" dirty="0"/>
          </a:p>
        </p:txBody>
      </p:sp>
      <p:sp>
        <p:nvSpPr>
          <p:cNvPr id="10" name="Text 8"/>
          <p:cNvSpPr/>
          <p:nvPr/>
        </p:nvSpPr>
        <p:spPr>
          <a:xfrm>
            <a:off x="822960" y="5760720"/>
            <a:ext cx="7315200" cy="731520"/>
          </a:xfrm>
          <a:prstGeom prst="rect">
            <a:avLst/>
          </a:prstGeom>
          <a:noFill/>
          <a:ln/>
        </p:spPr>
        <p:txBody>
          <a:bodyPr wrap="square" lIns="0" tIns="0" rIns="0" bIns="0" rtlCol="0" anchor="ctr"/>
          <a:lstStyle/>
          <a:p>
            <a:pPr marL="0" indent="0">
              <a:lnSpc>
                <a:spcPct val="130000"/>
              </a:lnSpc>
              <a:buNone/>
            </a:pPr>
            <a:r>
              <a:rPr lang="en-US" sz="1350" b="1" dirty="0">
                <a:solidFill>
                  <a:srgbClr val="C9D6E3"/>
                </a:solidFill>
                <a:latin typeface="Calibri" pitchFamily="34" charset="0"/>
                <a:ea typeface="Calibri" pitchFamily="34" charset="-122"/>
                <a:cs typeface="Calibri" pitchFamily="34" charset="-120"/>
              </a:rPr>
              <a:t>Rajesh Chauhan</a:t>
            </a:r>
            <a:endParaRPr lang="en-US" sz="1350" dirty="0"/>
          </a:p>
          <a:p>
            <a:pPr marL="0" indent="0">
              <a:lnSpc>
                <a:spcPct val="130000"/>
              </a:lnSpc>
              <a:buNone/>
            </a:pPr>
            <a:r>
              <a:rPr lang="en-US" sz="1350" dirty="0">
                <a:solidFill>
                  <a:srgbClr val="C9D6E3"/>
                </a:solidFill>
                <a:latin typeface="Calibri" pitchFamily="34" charset="0"/>
                <a:ea typeface="Calibri" pitchFamily="34" charset="-122"/>
                <a:cs typeface="Calibri" pitchFamily="34" charset="-120"/>
              </a:rPr>
              <a:t>Indian Institute of Technology, Kharagpur</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662</Words>
  <Application>Microsoft Office PowerPoint</Application>
  <PresentationFormat>Widescreen</PresentationFormat>
  <Paragraphs>155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MC-CDMA System Simulation Using OFDM</dc:title>
  <dc:subject>PptxGenJS Presentation</dc:subject>
  <dc:creator>Rajesh Chauhan</dc:creator>
  <cp:lastModifiedBy>Rajesh Chauhan</cp:lastModifiedBy>
  <cp:revision>2</cp:revision>
  <dcterms:created xsi:type="dcterms:W3CDTF">2026-06-22T09:35:46Z</dcterms:created>
  <dcterms:modified xsi:type="dcterms:W3CDTF">2026-06-22T09:39:57Z</dcterms:modified>
</cp:coreProperties>
</file>